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fei Wang" initials="RW" lastIdx="3" clrIdx="0">
    <p:extLst>
      <p:ext uri="{19B8F6BF-5375-455C-9EA6-DF929625EA0E}">
        <p15:presenceInfo xmlns:p15="http://schemas.microsoft.com/office/powerpoint/2012/main" userId="S::renfei.wang@dena.com::98a73bb0-20be-405f-b49e-c0295050e5c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4972"/>
  </p:normalViewPr>
  <p:slideViewPr>
    <p:cSldViewPr snapToGrid="0" snapToObjects="1">
      <p:cViewPr varScale="1">
        <p:scale>
          <a:sx n="104" d="100"/>
          <a:sy n="104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C61AFD-BF02-4CEA-8BC5-45076E5F983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5BBAB7-0BE4-47BF-ADA1-D7A6CB7383DA}">
      <dgm:prSet/>
      <dgm:spPr/>
      <dgm:t>
        <a:bodyPr/>
        <a:lstStyle/>
        <a:p>
          <a:r>
            <a:rPr kumimoji="1" lang="zh-CN"/>
            <a:t>接口梳理方案</a:t>
          </a:r>
          <a:endParaRPr lang="en-US"/>
        </a:p>
      </dgm:t>
    </dgm:pt>
    <dgm:pt modelId="{EF3298D2-831F-46B7-80F9-A7A506C6D7BB}" type="parTrans" cxnId="{5A6A4FB4-9686-49CF-8E5A-11B4531B5E9B}">
      <dgm:prSet/>
      <dgm:spPr/>
      <dgm:t>
        <a:bodyPr/>
        <a:lstStyle/>
        <a:p>
          <a:endParaRPr lang="en-US"/>
        </a:p>
      </dgm:t>
    </dgm:pt>
    <dgm:pt modelId="{190A2223-7014-42C9-BAFD-EA733D5391E1}" type="sibTrans" cxnId="{5A6A4FB4-9686-49CF-8E5A-11B4531B5E9B}">
      <dgm:prSet/>
      <dgm:spPr/>
      <dgm:t>
        <a:bodyPr/>
        <a:lstStyle/>
        <a:p>
          <a:endParaRPr lang="en-US"/>
        </a:p>
      </dgm:t>
    </dgm:pt>
    <dgm:pt modelId="{F91952BC-5703-4DF9-8022-A78FD4AADE09}">
      <dgm:prSet/>
      <dgm:spPr/>
      <dgm:t>
        <a:bodyPr/>
        <a:lstStyle/>
        <a:p>
          <a:r>
            <a:rPr kumimoji="1" lang="zh-CN"/>
            <a:t>通过抓包，整理用户角度触发路径较短的接口，并与开发方核对。</a:t>
          </a:r>
          <a:endParaRPr lang="en-US"/>
        </a:p>
      </dgm:t>
    </dgm:pt>
    <dgm:pt modelId="{8CA28267-75A8-4BF6-A2F8-60ACABC07CE2}" type="parTrans" cxnId="{96EC06D0-4CAE-42D7-A09E-276AE17EEDD6}">
      <dgm:prSet/>
      <dgm:spPr/>
      <dgm:t>
        <a:bodyPr/>
        <a:lstStyle/>
        <a:p>
          <a:endParaRPr lang="en-US"/>
        </a:p>
      </dgm:t>
    </dgm:pt>
    <dgm:pt modelId="{0868423C-CC63-4AEE-B611-22FF95B5DDC9}" type="sibTrans" cxnId="{96EC06D0-4CAE-42D7-A09E-276AE17EEDD6}">
      <dgm:prSet/>
      <dgm:spPr/>
      <dgm:t>
        <a:bodyPr/>
        <a:lstStyle/>
        <a:p>
          <a:endParaRPr lang="en-US"/>
        </a:p>
      </dgm:t>
    </dgm:pt>
    <dgm:pt modelId="{2AA60B37-9D95-44FD-AA2B-FA26A542C3B9}">
      <dgm:prSet/>
      <dgm:spPr/>
      <dgm:t>
        <a:bodyPr/>
        <a:lstStyle/>
        <a:p>
          <a:r>
            <a:rPr kumimoji="1" lang="zh-CN"/>
            <a:t>梳理结果：抓包准确性不理想。</a:t>
          </a:r>
          <a:endParaRPr lang="en-US"/>
        </a:p>
      </dgm:t>
    </dgm:pt>
    <dgm:pt modelId="{C73681AC-2BCE-4A8D-A65E-19A98932E76B}" type="parTrans" cxnId="{469CCED1-367B-4E0D-9982-FE99135D9722}">
      <dgm:prSet/>
      <dgm:spPr/>
      <dgm:t>
        <a:bodyPr/>
        <a:lstStyle/>
        <a:p>
          <a:endParaRPr lang="en-US"/>
        </a:p>
      </dgm:t>
    </dgm:pt>
    <dgm:pt modelId="{768D4C53-426C-4E6E-8FE2-3D213D9A2672}" type="sibTrans" cxnId="{469CCED1-367B-4E0D-9982-FE99135D9722}">
      <dgm:prSet/>
      <dgm:spPr/>
      <dgm:t>
        <a:bodyPr/>
        <a:lstStyle/>
        <a:p>
          <a:endParaRPr lang="en-US"/>
        </a:p>
      </dgm:t>
    </dgm:pt>
    <dgm:pt modelId="{DFFB2F7D-E3AD-4D75-9080-DE16D509EF7B}">
      <dgm:prSet/>
      <dgm:spPr/>
      <dgm:t>
        <a:bodyPr/>
        <a:lstStyle/>
        <a:p>
          <a:r>
            <a:rPr kumimoji="1" lang="zh-CN"/>
            <a:t>定位原因</a:t>
          </a:r>
          <a:endParaRPr lang="en-US"/>
        </a:p>
      </dgm:t>
    </dgm:pt>
    <dgm:pt modelId="{98FE4A24-4E70-40AD-AA3C-9E599280E4B2}" type="parTrans" cxnId="{6661724C-51FF-4446-934F-068E8C0D3984}">
      <dgm:prSet/>
      <dgm:spPr/>
      <dgm:t>
        <a:bodyPr/>
        <a:lstStyle/>
        <a:p>
          <a:endParaRPr lang="en-US"/>
        </a:p>
      </dgm:t>
    </dgm:pt>
    <dgm:pt modelId="{60DDC569-18AB-4DD7-9271-6D78F4C44FF3}" type="sibTrans" cxnId="{6661724C-51FF-4446-934F-068E8C0D3984}">
      <dgm:prSet/>
      <dgm:spPr/>
      <dgm:t>
        <a:bodyPr/>
        <a:lstStyle/>
        <a:p>
          <a:endParaRPr lang="en-US"/>
        </a:p>
      </dgm:t>
    </dgm:pt>
    <dgm:pt modelId="{7106390C-1EC2-42A5-B33B-4ECE2F3C9402}">
      <dgm:prSet/>
      <dgm:spPr/>
      <dgm:t>
        <a:bodyPr/>
        <a:lstStyle/>
        <a:p>
          <a:r>
            <a:rPr kumimoji="1" lang="zh-CN"/>
            <a:t>原因</a:t>
          </a:r>
          <a:r>
            <a:rPr kumimoji="1" lang="en-US"/>
            <a:t>:</a:t>
          </a:r>
          <a:r>
            <a:rPr kumimoji="1" lang="zh-CN"/>
            <a:t>  </a:t>
          </a:r>
          <a:r>
            <a:rPr kumimoji="1" lang="en-US"/>
            <a:t>app</a:t>
          </a:r>
          <a:r>
            <a:rPr kumimoji="1" lang="zh-CN"/>
            <a:t>做过防代理抓包处理，且部分</a:t>
          </a:r>
          <a:r>
            <a:rPr kumimoji="1" lang="en-US"/>
            <a:t>API</a:t>
          </a:r>
          <a:r>
            <a:rPr kumimoji="1" lang="zh-CN"/>
            <a:t>调用被封装，无法直接通过</a:t>
          </a:r>
          <a:r>
            <a:rPr kumimoji="1" lang="en-US"/>
            <a:t>charles</a:t>
          </a:r>
          <a:r>
            <a:rPr kumimoji="1" lang="zh-CN"/>
            <a:t>等抓包软件截取</a:t>
          </a:r>
          <a:r>
            <a:rPr kumimoji="1" lang="en-US"/>
            <a:t>http</a:t>
          </a:r>
          <a:r>
            <a:rPr kumimoji="1" lang="zh-CN"/>
            <a:t>请求。</a:t>
          </a:r>
          <a:endParaRPr lang="en-US"/>
        </a:p>
      </dgm:t>
    </dgm:pt>
    <dgm:pt modelId="{4D323E42-EE8C-4B12-B508-7913A9028CCE}" type="parTrans" cxnId="{30596D9E-8CCA-4F73-911F-BABE8E3FDEE9}">
      <dgm:prSet/>
      <dgm:spPr/>
      <dgm:t>
        <a:bodyPr/>
        <a:lstStyle/>
        <a:p>
          <a:endParaRPr lang="en-US"/>
        </a:p>
      </dgm:t>
    </dgm:pt>
    <dgm:pt modelId="{0A373FCB-35C6-4CD5-ADE7-5A778D982171}" type="sibTrans" cxnId="{30596D9E-8CCA-4F73-911F-BABE8E3FDEE9}">
      <dgm:prSet/>
      <dgm:spPr/>
      <dgm:t>
        <a:bodyPr/>
        <a:lstStyle/>
        <a:p>
          <a:endParaRPr lang="en-US"/>
        </a:p>
      </dgm:t>
    </dgm:pt>
    <dgm:pt modelId="{BF6D18C5-CE76-5047-AC26-83D573811973}" type="pres">
      <dgm:prSet presAssocID="{53C61AFD-BF02-4CEA-8BC5-45076E5F983B}" presName="linear" presStyleCnt="0">
        <dgm:presLayoutVars>
          <dgm:dir/>
          <dgm:animLvl val="lvl"/>
          <dgm:resizeHandles val="exact"/>
        </dgm:presLayoutVars>
      </dgm:prSet>
      <dgm:spPr/>
    </dgm:pt>
    <dgm:pt modelId="{FE7E5729-1420-3046-A05C-A0F61D91C497}" type="pres">
      <dgm:prSet presAssocID="{EB5BBAB7-0BE4-47BF-ADA1-D7A6CB7383DA}" presName="parentLin" presStyleCnt="0"/>
      <dgm:spPr/>
    </dgm:pt>
    <dgm:pt modelId="{04BEF436-76D4-DD43-AF38-81215E71F517}" type="pres">
      <dgm:prSet presAssocID="{EB5BBAB7-0BE4-47BF-ADA1-D7A6CB7383DA}" presName="parentLeftMargin" presStyleLbl="node1" presStyleIdx="0" presStyleCnt="2"/>
      <dgm:spPr/>
    </dgm:pt>
    <dgm:pt modelId="{75033B60-58AB-3D42-B6F2-B5729337FCA0}" type="pres">
      <dgm:prSet presAssocID="{EB5BBAB7-0BE4-47BF-ADA1-D7A6CB7383D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F9BFAA0-2091-334F-9D8A-3F57078568E2}" type="pres">
      <dgm:prSet presAssocID="{EB5BBAB7-0BE4-47BF-ADA1-D7A6CB7383DA}" presName="negativeSpace" presStyleCnt="0"/>
      <dgm:spPr/>
    </dgm:pt>
    <dgm:pt modelId="{69FC335D-5D8C-0844-8105-C9CA909C37D4}" type="pres">
      <dgm:prSet presAssocID="{EB5BBAB7-0BE4-47BF-ADA1-D7A6CB7383DA}" presName="childText" presStyleLbl="conFgAcc1" presStyleIdx="0" presStyleCnt="2">
        <dgm:presLayoutVars>
          <dgm:bulletEnabled val="1"/>
        </dgm:presLayoutVars>
      </dgm:prSet>
      <dgm:spPr/>
    </dgm:pt>
    <dgm:pt modelId="{C8D89F54-E658-A74D-BEC8-3EABA66B1385}" type="pres">
      <dgm:prSet presAssocID="{190A2223-7014-42C9-BAFD-EA733D5391E1}" presName="spaceBetweenRectangles" presStyleCnt="0"/>
      <dgm:spPr/>
    </dgm:pt>
    <dgm:pt modelId="{8B768019-6F58-6644-A28C-DBB1B19E9692}" type="pres">
      <dgm:prSet presAssocID="{DFFB2F7D-E3AD-4D75-9080-DE16D509EF7B}" presName="parentLin" presStyleCnt="0"/>
      <dgm:spPr/>
    </dgm:pt>
    <dgm:pt modelId="{5E351FF4-20C9-2940-A566-0DDBD98199A9}" type="pres">
      <dgm:prSet presAssocID="{DFFB2F7D-E3AD-4D75-9080-DE16D509EF7B}" presName="parentLeftMargin" presStyleLbl="node1" presStyleIdx="0" presStyleCnt="2"/>
      <dgm:spPr/>
    </dgm:pt>
    <dgm:pt modelId="{73E0C5FE-C3E8-184A-98F9-2C4871630BEE}" type="pres">
      <dgm:prSet presAssocID="{DFFB2F7D-E3AD-4D75-9080-DE16D509EF7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094EFAF-8FF9-9246-BC63-10D27C2C2455}" type="pres">
      <dgm:prSet presAssocID="{DFFB2F7D-E3AD-4D75-9080-DE16D509EF7B}" presName="negativeSpace" presStyleCnt="0"/>
      <dgm:spPr/>
    </dgm:pt>
    <dgm:pt modelId="{9439D4AF-B75A-CE48-BB03-CD98C1E5656B}" type="pres">
      <dgm:prSet presAssocID="{DFFB2F7D-E3AD-4D75-9080-DE16D509EF7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5181D12-F179-944F-B979-DC5FDDC29820}" type="presOf" srcId="{EB5BBAB7-0BE4-47BF-ADA1-D7A6CB7383DA}" destId="{04BEF436-76D4-DD43-AF38-81215E71F517}" srcOrd="0" destOrd="0" presId="urn:microsoft.com/office/officeart/2005/8/layout/list1"/>
    <dgm:cxn modelId="{31BE4E1F-20C4-1D43-BE73-F88F348C4B6A}" type="presOf" srcId="{F91952BC-5703-4DF9-8022-A78FD4AADE09}" destId="{69FC335D-5D8C-0844-8105-C9CA909C37D4}" srcOrd="0" destOrd="0" presId="urn:microsoft.com/office/officeart/2005/8/layout/list1"/>
    <dgm:cxn modelId="{6661724C-51FF-4446-934F-068E8C0D3984}" srcId="{53C61AFD-BF02-4CEA-8BC5-45076E5F983B}" destId="{DFFB2F7D-E3AD-4D75-9080-DE16D509EF7B}" srcOrd="1" destOrd="0" parTransId="{98FE4A24-4E70-40AD-AA3C-9E599280E4B2}" sibTransId="{60DDC569-18AB-4DD7-9271-6D78F4C44FF3}"/>
    <dgm:cxn modelId="{9AEE035E-8512-CD48-BF61-2196EF47DA24}" type="presOf" srcId="{EB5BBAB7-0BE4-47BF-ADA1-D7A6CB7383DA}" destId="{75033B60-58AB-3D42-B6F2-B5729337FCA0}" srcOrd="1" destOrd="0" presId="urn:microsoft.com/office/officeart/2005/8/layout/list1"/>
    <dgm:cxn modelId="{F7032A8B-FF83-C046-B9D6-77542B0119C6}" type="presOf" srcId="{DFFB2F7D-E3AD-4D75-9080-DE16D509EF7B}" destId="{73E0C5FE-C3E8-184A-98F9-2C4871630BEE}" srcOrd="1" destOrd="0" presId="urn:microsoft.com/office/officeart/2005/8/layout/list1"/>
    <dgm:cxn modelId="{7B4AFE8E-D27C-8D43-8F71-8E5C73BA8DA6}" type="presOf" srcId="{7106390C-1EC2-42A5-B33B-4ECE2F3C9402}" destId="{9439D4AF-B75A-CE48-BB03-CD98C1E5656B}" srcOrd="0" destOrd="0" presId="urn:microsoft.com/office/officeart/2005/8/layout/list1"/>
    <dgm:cxn modelId="{30596D9E-8CCA-4F73-911F-BABE8E3FDEE9}" srcId="{DFFB2F7D-E3AD-4D75-9080-DE16D509EF7B}" destId="{7106390C-1EC2-42A5-B33B-4ECE2F3C9402}" srcOrd="0" destOrd="0" parTransId="{4D323E42-EE8C-4B12-B508-7913A9028CCE}" sibTransId="{0A373FCB-35C6-4CD5-ADE7-5A778D982171}"/>
    <dgm:cxn modelId="{D7E108AA-2292-0E44-8697-093BD3A9C99E}" type="presOf" srcId="{DFFB2F7D-E3AD-4D75-9080-DE16D509EF7B}" destId="{5E351FF4-20C9-2940-A566-0DDBD98199A9}" srcOrd="0" destOrd="0" presId="urn:microsoft.com/office/officeart/2005/8/layout/list1"/>
    <dgm:cxn modelId="{5A6A4FB4-9686-49CF-8E5A-11B4531B5E9B}" srcId="{53C61AFD-BF02-4CEA-8BC5-45076E5F983B}" destId="{EB5BBAB7-0BE4-47BF-ADA1-D7A6CB7383DA}" srcOrd="0" destOrd="0" parTransId="{EF3298D2-831F-46B7-80F9-A7A506C6D7BB}" sibTransId="{190A2223-7014-42C9-BAFD-EA733D5391E1}"/>
    <dgm:cxn modelId="{6264EFC9-4CC0-524E-B9FF-F5C1D4B34EF9}" type="presOf" srcId="{2AA60B37-9D95-44FD-AA2B-FA26A542C3B9}" destId="{69FC335D-5D8C-0844-8105-C9CA909C37D4}" srcOrd="0" destOrd="1" presId="urn:microsoft.com/office/officeart/2005/8/layout/list1"/>
    <dgm:cxn modelId="{96EC06D0-4CAE-42D7-A09E-276AE17EEDD6}" srcId="{EB5BBAB7-0BE4-47BF-ADA1-D7A6CB7383DA}" destId="{F91952BC-5703-4DF9-8022-A78FD4AADE09}" srcOrd="0" destOrd="0" parTransId="{8CA28267-75A8-4BF6-A2F8-60ACABC07CE2}" sibTransId="{0868423C-CC63-4AEE-B611-22FF95B5DDC9}"/>
    <dgm:cxn modelId="{469CCED1-367B-4E0D-9982-FE99135D9722}" srcId="{EB5BBAB7-0BE4-47BF-ADA1-D7A6CB7383DA}" destId="{2AA60B37-9D95-44FD-AA2B-FA26A542C3B9}" srcOrd="1" destOrd="0" parTransId="{C73681AC-2BCE-4A8D-A65E-19A98932E76B}" sibTransId="{768D4C53-426C-4E6E-8FE2-3D213D9A2672}"/>
    <dgm:cxn modelId="{32E251FA-AC5C-284D-BE2F-DFA61633EF47}" type="presOf" srcId="{53C61AFD-BF02-4CEA-8BC5-45076E5F983B}" destId="{BF6D18C5-CE76-5047-AC26-83D573811973}" srcOrd="0" destOrd="0" presId="urn:microsoft.com/office/officeart/2005/8/layout/list1"/>
    <dgm:cxn modelId="{19BCBB59-01CB-8046-923B-7F84CA6E544F}" type="presParOf" srcId="{BF6D18C5-CE76-5047-AC26-83D573811973}" destId="{FE7E5729-1420-3046-A05C-A0F61D91C497}" srcOrd="0" destOrd="0" presId="urn:microsoft.com/office/officeart/2005/8/layout/list1"/>
    <dgm:cxn modelId="{91E3C107-1400-EB43-B43C-9E570EB28E21}" type="presParOf" srcId="{FE7E5729-1420-3046-A05C-A0F61D91C497}" destId="{04BEF436-76D4-DD43-AF38-81215E71F517}" srcOrd="0" destOrd="0" presId="urn:microsoft.com/office/officeart/2005/8/layout/list1"/>
    <dgm:cxn modelId="{725F056A-262F-7A47-A5A9-8F954502E093}" type="presParOf" srcId="{FE7E5729-1420-3046-A05C-A0F61D91C497}" destId="{75033B60-58AB-3D42-B6F2-B5729337FCA0}" srcOrd="1" destOrd="0" presId="urn:microsoft.com/office/officeart/2005/8/layout/list1"/>
    <dgm:cxn modelId="{494D4682-026B-CD4B-846F-11F33BF13750}" type="presParOf" srcId="{BF6D18C5-CE76-5047-AC26-83D573811973}" destId="{7F9BFAA0-2091-334F-9D8A-3F57078568E2}" srcOrd="1" destOrd="0" presId="urn:microsoft.com/office/officeart/2005/8/layout/list1"/>
    <dgm:cxn modelId="{9B51C883-4C1C-B540-8801-F6327F4D4377}" type="presParOf" srcId="{BF6D18C5-CE76-5047-AC26-83D573811973}" destId="{69FC335D-5D8C-0844-8105-C9CA909C37D4}" srcOrd="2" destOrd="0" presId="urn:microsoft.com/office/officeart/2005/8/layout/list1"/>
    <dgm:cxn modelId="{1DCA2D34-32DF-B746-97B7-B32A67FFB456}" type="presParOf" srcId="{BF6D18C5-CE76-5047-AC26-83D573811973}" destId="{C8D89F54-E658-A74D-BEC8-3EABA66B1385}" srcOrd="3" destOrd="0" presId="urn:microsoft.com/office/officeart/2005/8/layout/list1"/>
    <dgm:cxn modelId="{559A74D6-7E67-4F49-860C-F6002E5B451D}" type="presParOf" srcId="{BF6D18C5-CE76-5047-AC26-83D573811973}" destId="{8B768019-6F58-6644-A28C-DBB1B19E9692}" srcOrd="4" destOrd="0" presId="urn:microsoft.com/office/officeart/2005/8/layout/list1"/>
    <dgm:cxn modelId="{EFBB4009-EDEF-E443-9920-06FE5153CF4F}" type="presParOf" srcId="{8B768019-6F58-6644-A28C-DBB1B19E9692}" destId="{5E351FF4-20C9-2940-A566-0DDBD98199A9}" srcOrd="0" destOrd="0" presId="urn:microsoft.com/office/officeart/2005/8/layout/list1"/>
    <dgm:cxn modelId="{B35713D4-4411-E447-9600-6328D83C2A96}" type="presParOf" srcId="{8B768019-6F58-6644-A28C-DBB1B19E9692}" destId="{73E0C5FE-C3E8-184A-98F9-2C4871630BEE}" srcOrd="1" destOrd="0" presId="urn:microsoft.com/office/officeart/2005/8/layout/list1"/>
    <dgm:cxn modelId="{70D94CB8-A41D-2B42-93B3-13BEDD0FC88A}" type="presParOf" srcId="{BF6D18C5-CE76-5047-AC26-83D573811973}" destId="{E094EFAF-8FF9-9246-BC63-10D27C2C2455}" srcOrd="5" destOrd="0" presId="urn:microsoft.com/office/officeart/2005/8/layout/list1"/>
    <dgm:cxn modelId="{D3F58BD7-B1B5-B14A-9007-B0EDAD1234AD}" type="presParOf" srcId="{BF6D18C5-CE76-5047-AC26-83D573811973}" destId="{9439D4AF-B75A-CE48-BB03-CD98C1E5656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C335D-5D8C-0844-8105-C9CA909C37D4}">
      <dsp:nvSpPr>
        <dsp:cNvPr id="0" name=""/>
        <dsp:cNvSpPr/>
      </dsp:nvSpPr>
      <dsp:spPr>
        <a:xfrm>
          <a:off x="0" y="606077"/>
          <a:ext cx="5135292" cy="181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8556" tIns="479044" rIns="39855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sz="2300" kern="1200"/>
            <a:t>通过抓包，整理用户角度触发路径较短的接口，并与开发方核对。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sz="2300" kern="1200"/>
            <a:t>梳理结果：抓包准确性不理想。</a:t>
          </a:r>
          <a:endParaRPr lang="en-US" sz="2300" kern="1200"/>
        </a:p>
      </dsp:txBody>
      <dsp:txXfrm>
        <a:off x="0" y="606077"/>
        <a:ext cx="5135292" cy="1811250"/>
      </dsp:txXfrm>
    </dsp:sp>
    <dsp:sp modelId="{75033B60-58AB-3D42-B6F2-B5729337FCA0}">
      <dsp:nvSpPr>
        <dsp:cNvPr id="0" name=""/>
        <dsp:cNvSpPr/>
      </dsp:nvSpPr>
      <dsp:spPr>
        <a:xfrm>
          <a:off x="256764" y="266597"/>
          <a:ext cx="3594705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871" tIns="0" rIns="1358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2300" kern="1200"/>
            <a:t>接口梳理方案</a:t>
          </a:r>
          <a:endParaRPr lang="en-US" sz="2300" kern="1200"/>
        </a:p>
      </dsp:txBody>
      <dsp:txXfrm>
        <a:off x="289908" y="299741"/>
        <a:ext cx="3528417" cy="612672"/>
      </dsp:txXfrm>
    </dsp:sp>
    <dsp:sp modelId="{9439D4AF-B75A-CE48-BB03-CD98C1E5656B}">
      <dsp:nvSpPr>
        <dsp:cNvPr id="0" name=""/>
        <dsp:cNvSpPr/>
      </dsp:nvSpPr>
      <dsp:spPr>
        <a:xfrm>
          <a:off x="0" y="2881007"/>
          <a:ext cx="5135292" cy="2101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8556" tIns="479044" rIns="39855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sz="2300" kern="1200"/>
            <a:t>原因</a:t>
          </a:r>
          <a:r>
            <a:rPr kumimoji="1" lang="en-US" sz="2300" kern="1200"/>
            <a:t>:</a:t>
          </a:r>
          <a:r>
            <a:rPr kumimoji="1" lang="zh-CN" sz="2300" kern="1200"/>
            <a:t>  </a:t>
          </a:r>
          <a:r>
            <a:rPr kumimoji="1" lang="en-US" sz="2300" kern="1200"/>
            <a:t>app</a:t>
          </a:r>
          <a:r>
            <a:rPr kumimoji="1" lang="zh-CN" sz="2300" kern="1200"/>
            <a:t>做过防代理抓包处理，且部分</a:t>
          </a:r>
          <a:r>
            <a:rPr kumimoji="1" lang="en-US" sz="2300" kern="1200"/>
            <a:t>API</a:t>
          </a:r>
          <a:r>
            <a:rPr kumimoji="1" lang="zh-CN" sz="2300" kern="1200"/>
            <a:t>调用被封装，无法直接通过</a:t>
          </a:r>
          <a:r>
            <a:rPr kumimoji="1" lang="en-US" sz="2300" kern="1200"/>
            <a:t>charles</a:t>
          </a:r>
          <a:r>
            <a:rPr kumimoji="1" lang="zh-CN" sz="2300" kern="1200"/>
            <a:t>等抓包软件截取</a:t>
          </a:r>
          <a:r>
            <a:rPr kumimoji="1" lang="en-US" sz="2300" kern="1200"/>
            <a:t>http</a:t>
          </a:r>
          <a:r>
            <a:rPr kumimoji="1" lang="zh-CN" sz="2300" kern="1200"/>
            <a:t>请求。</a:t>
          </a:r>
          <a:endParaRPr lang="en-US" sz="2300" kern="1200"/>
        </a:p>
      </dsp:txBody>
      <dsp:txXfrm>
        <a:off x="0" y="2881007"/>
        <a:ext cx="5135292" cy="2101050"/>
      </dsp:txXfrm>
    </dsp:sp>
    <dsp:sp modelId="{73E0C5FE-C3E8-184A-98F9-2C4871630BEE}">
      <dsp:nvSpPr>
        <dsp:cNvPr id="0" name=""/>
        <dsp:cNvSpPr/>
      </dsp:nvSpPr>
      <dsp:spPr>
        <a:xfrm>
          <a:off x="256764" y="2541528"/>
          <a:ext cx="3594705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871" tIns="0" rIns="1358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2300" kern="1200"/>
            <a:t>定位原因</a:t>
          </a:r>
          <a:endParaRPr lang="en-US" sz="2300" kern="1200"/>
        </a:p>
      </dsp:txBody>
      <dsp:txXfrm>
        <a:off x="289908" y="2574672"/>
        <a:ext cx="3528417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3BA49-6A69-CE49-AA12-691E61A9F13F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7ADAC-F727-DF42-84A1-53F383BC08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4863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第三方研发进度有限，针对后面开展的测试活动进行了一次通气会；</a:t>
            </a:r>
            <a:endParaRPr kumimoji="1" lang="en-US" altLang="zh-CN" dirty="0"/>
          </a:p>
          <a:p>
            <a:r>
              <a:rPr kumimoji="1" lang="zh-CN" altLang="en-US" dirty="0"/>
              <a:t>此时没有接口文档，研发方也提供不了。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故产生遗留问题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7ADAC-F727-DF42-84A1-53F383BC088E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3161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7ADAC-F727-DF42-84A1-53F383BC088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5426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影响： </a:t>
            </a:r>
            <a:r>
              <a:rPr kumimoji="1" lang="en" altLang="zh-CN" dirty="0"/>
              <a:t>App</a:t>
            </a:r>
            <a:r>
              <a:rPr kumimoji="1" lang="zh-CN" altLang="en-US" dirty="0"/>
              <a:t>获取玩家游戏数据的方式需要做大规模调整，造成了时间线整体后移，接口梳理不理想并未影响到项目进度。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后续：等待开发完成，功能测试结束，代码封版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7ADAC-F727-DF42-84A1-53F383BC088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1836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接口数量太多，全部压测性价比低。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压测范围确定后 ，被压接口数量约</a:t>
            </a:r>
            <a:r>
              <a:rPr kumimoji="1" lang="en-US" altLang="zh-CN" dirty="0"/>
              <a:t>30</a:t>
            </a:r>
            <a:r>
              <a:rPr kumimoji="1" lang="zh-CN" altLang="en-US" dirty="0"/>
              <a:t>个，按</a:t>
            </a:r>
            <a:r>
              <a:rPr kumimoji="1" lang="en-US" altLang="zh-CN" dirty="0"/>
              <a:t>app</a:t>
            </a:r>
            <a:r>
              <a:rPr kumimoji="1" lang="zh-CN" altLang="en-US" dirty="0"/>
              <a:t>模块分组， 和研发进行了简单评审，确认。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App</a:t>
            </a:r>
            <a:r>
              <a:rPr kumimoji="1" lang="zh-CN" altLang="en-US" dirty="0"/>
              <a:t> 计划有限投放。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7ADAC-F727-DF42-84A1-53F383BC088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7925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被压接口中，会对应用本身，数据库 都造成很大压力，甚至</a:t>
            </a:r>
            <a:r>
              <a:rPr kumimoji="1" lang="en-US" altLang="zh-CN" dirty="0"/>
              <a:t>100%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筛选性能较差接口方法： 二分法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7ADAC-F727-DF42-84A1-53F383BC088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A537A-6C6D-1947-8EFE-657B734F1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318E28-110A-974F-8828-40672FDAE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B03CFD-88AE-AB4B-A159-6216206E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A2254E-67A0-584F-A236-D1E1FE1E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F9D77-44D8-C945-9B12-21A8F98C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53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7C449-2958-A34C-B253-2905B662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ADE63E-D8D6-F148-85E8-C297DA568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5C7F6C-28AF-564D-973B-B0826A57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F8C094-8BC2-F640-9D0D-DE44CCD30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57354-4A68-274D-9B33-3CDEB331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43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D47C1-B2F4-B447-8E8D-2B7A0F53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3F89A6-EAED-4748-97C9-51E33B6D1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BDEDA-E442-0F42-AE55-C5493FF3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6F12DC-C2D7-0A4D-AEA9-42ACA21D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03EA2B-5FA5-1945-AD26-C153B5BE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417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B6067-8CE1-3645-AAEF-AE7C726F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A31309-B830-844B-8119-1B7A98665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64F33A-4BBC-4942-859B-8400E991A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878451-BF64-6F48-B33D-788170F8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20D605-C8DB-8C47-B6B7-E5BC5545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F98EF0-1307-2F43-947C-5EDCEEFF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06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DF018-5E07-644D-8526-996EB155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989B0B-24C9-2C43-8E38-598A3DBB4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83BCCB-95CA-0E40-B65E-E5B8AA70E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4B3781-258E-4844-8A5C-6342D41AE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215E27-9972-534C-BBD0-4CCBDFBD0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48907D-DB82-E849-8A8F-3892E088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215117-7DDA-F748-A308-24500DD1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8F06AC-0EDE-A144-AB6C-CB490D2C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235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69334-F1A8-E047-B74D-7BDC2E9B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64EDFC-D902-3540-A686-CD330EFD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FCAE8C-0B2F-EB47-B445-87FE81AB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C3E417-3A51-F249-854C-72C39D56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39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E53F1E-2B3D-2344-A02F-FCF2170A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1EE7C9-82F1-9E45-811D-6A498820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E4ADD9-8071-834D-80BE-20B25AD9B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878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72561-3F4E-1E41-860B-7DD93710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D8A7C-3D3E-C84E-9FA5-1B8FC4959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A25727-7B03-E549-A54C-1DA04FC1E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BF0E38-D756-9A4D-A909-BAD5FBBF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6524EF-5FDC-1D43-8478-70A0237E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7F396D-6153-F54C-B9C3-9813A192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445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84C13-7B9D-4F49-B67D-0E9EFFA3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D50D34B-A7C8-8347-813B-3A2DFAFB1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933170-1832-8C44-9CF2-93E47EAF3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4F4662-D3F2-AA44-AD55-0A00B96C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73105F-63E5-9940-8D4A-BC786842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374790-2E53-2943-8C63-D6998929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5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62829-49F8-E84B-BD6D-341476D1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40682A-3E67-E849-9502-25F25394F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E1858-AB15-A04E-B0C3-17E44AC6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9B8D2-5D3C-3643-A25D-FD167D99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320909-F40B-2849-AACE-FF7DF588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980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E7E74D-5B8C-7A49-89B9-4C0D5881E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A103C-1CFA-0444-87B4-75D6970C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51E1BB-5D03-3B44-8CAD-4842C1C9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66A0C-5CE2-424E-B4B3-7BB68D8E2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D4F93-FEB9-5046-8A0E-483432D5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858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D077FE-8E4E-EB47-B2E6-041A70B73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A0E511-28F9-C64D-904C-7064AED56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9B4C2-C334-B147-97AB-B93D3B633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9C2B9-325A-9B4F-9553-DD502A202BFE}" type="datetimeFigureOut">
              <a:rPr kumimoji="1" lang="zh-CN" altLang="en-US" smtClean="0"/>
              <a:t>2021/8/10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712281-00BD-4A40-9E96-7F78E4E2D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27937-55E3-1749-9180-A4100AD70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D7191-1194-594D-8513-00080DD735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034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AF61A-FE5C-C74F-A637-76A4A1644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D99</a:t>
            </a:r>
            <a:r>
              <a:rPr kumimoji="1" lang="zh-CN" altLang="en-US" dirty="0"/>
              <a:t>星性能测试回顾与</a:t>
            </a:r>
            <a:br>
              <a:rPr kumimoji="1" lang="en-US" altLang="zh-CN" dirty="0"/>
            </a:br>
            <a:r>
              <a:rPr kumimoji="1" lang="zh-CN" altLang="en-US" dirty="0"/>
              <a:t>心得分享</a:t>
            </a:r>
          </a:p>
        </p:txBody>
      </p:sp>
    </p:spTree>
    <p:extLst>
      <p:ext uri="{BB962C8B-B14F-4D97-AF65-F5344CB8AC3E}">
        <p14:creationId xmlns:p14="http://schemas.microsoft.com/office/powerpoint/2010/main" val="1693910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64D464-898B-4908-88FD-33A83D6ED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0BC1D9E-4401-4EC0-88FD-ED103CB57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0670" y="2"/>
            <a:ext cx="1191330" cy="1511301"/>
          </a:xfrm>
          <a:custGeom>
            <a:avLst/>
            <a:gdLst>
              <a:gd name="connsiteX0" fmla="*/ 697617 w 1191330"/>
              <a:gd name="connsiteY0" fmla="*/ 0 h 1511301"/>
              <a:gd name="connsiteX1" fmla="*/ 1191330 w 1191330"/>
              <a:gd name="connsiteY1" fmla="*/ 0 h 1511301"/>
              <a:gd name="connsiteX2" fmla="*/ 1191330 w 1191330"/>
              <a:gd name="connsiteY2" fmla="*/ 1511301 h 1511301"/>
              <a:gd name="connsiteX3" fmla="*/ 0 w 1191330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1330" h="1511301">
                <a:moveTo>
                  <a:pt x="697617" y="0"/>
                </a:moveTo>
                <a:lnTo>
                  <a:pt x="1191330" y="0"/>
                </a:lnTo>
                <a:lnTo>
                  <a:pt x="1191330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0AAF7C9-094E-400C-A428-F6C2262F6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0753320" cy="5167312"/>
          </a:xfrm>
          <a:custGeom>
            <a:avLst/>
            <a:gdLst>
              <a:gd name="connsiteX0" fmla="*/ 0 w 10753320"/>
              <a:gd name="connsiteY0" fmla="*/ 0 h 5167312"/>
              <a:gd name="connsiteX1" fmla="*/ 9680943 w 10753320"/>
              <a:gd name="connsiteY1" fmla="*/ 0 h 5167312"/>
              <a:gd name="connsiteX2" fmla="*/ 9680223 w 10753320"/>
              <a:gd name="connsiteY2" fmla="*/ 952 h 5167312"/>
              <a:gd name="connsiteX3" fmla="*/ 10753320 w 10753320"/>
              <a:gd name="connsiteY3" fmla="*/ 952 h 5167312"/>
              <a:gd name="connsiteX4" fmla="*/ 8359441 w 10753320"/>
              <a:gd name="connsiteY4" fmla="*/ 5167312 h 5167312"/>
              <a:gd name="connsiteX5" fmla="*/ 4821866 w 10753320"/>
              <a:gd name="connsiteY5" fmla="*/ 5167312 h 5167312"/>
              <a:gd name="connsiteX6" fmla="*/ 4821866 w 10753320"/>
              <a:gd name="connsiteY6" fmla="*/ 5166360 h 5167312"/>
              <a:gd name="connsiteX7" fmla="*/ 0 w 10753320"/>
              <a:gd name="connsiteY7" fmla="*/ 5166360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53320" h="5167312">
                <a:moveTo>
                  <a:pt x="0" y="0"/>
                </a:moveTo>
                <a:lnTo>
                  <a:pt x="9680943" y="0"/>
                </a:lnTo>
                <a:lnTo>
                  <a:pt x="9680223" y="952"/>
                </a:lnTo>
                <a:lnTo>
                  <a:pt x="10753320" y="952"/>
                </a:lnTo>
                <a:lnTo>
                  <a:pt x="8359441" y="5167312"/>
                </a:lnTo>
                <a:lnTo>
                  <a:pt x="4821866" y="5167312"/>
                </a:lnTo>
                <a:lnTo>
                  <a:pt x="4821866" y="5166360"/>
                </a:lnTo>
                <a:lnTo>
                  <a:pt x="0" y="516636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A97EF4-3F0D-4C41-BB38-BAD17BCD3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5811"/>
            <a:ext cx="7315200" cy="4121152"/>
          </a:xfrm>
        </p:spPr>
        <p:txBody>
          <a:bodyPr>
            <a:normAutofit/>
          </a:bodyPr>
          <a:lstStyle/>
          <a:p>
            <a:r>
              <a:rPr kumimoji="1" lang="zh-CN" altLang="en-US" sz="2200"/>
              <a:t>什么是</a:t>
            </a:r>
            <a:r>
              <a:rPr kumimoji="1" lang="en-US" altLang="zh-CN" sz="2200"/>
              <a:t>D99</a:t>
            </a:r>
            <a:r>
              <a:rPr kumimoji="1" lang="zh-CN" altLang="en-US" sz="2200"/>
              <a:t>星</a:t>
            </a:r>
            <a:r>
              <a:rPr kumimoji="1" lang="en-US" altLang="zh-CN" sz="2200"/>
              <a:t>?</a:t>
            </a:r>
          </a:p>
          <a:p>
            <a:pPr lvl="1"/>
            <a:r>
              <a:rPr kumimoji="1" lang="en-US" altLang="zh-CN" sz="2200"/>
              <a:t>D99</a:t>
            </a:r>
            <a:r>
              <a:rPr kumimoji="1" lang="zh-CN" altLang="en-US" sz="2200"/>
              <a:t>星是一款服务于灌篮高手的助手类</a:t>
            </a:r>
            <a:r>
              <a:rPr kumimoji="1" lang="en-US" altLang="zh-CN" sz="2200"/>
              <a:t>app</a:t>
            </a:r>
            <a:r>
              <a:rPr kumimoji="1" lang="zh-CN" altLang="en-US" sz="2200"/>
              <a:t>，为玩家提供游戏的战绩查询、新闻推送、社区内容聚合等服务。</a:t>
            </a:r>
            <a:endParaRPr kumimoji="1" lang="en-US" altLang="zh-CN" sz="2200"/>
          </a:p>
          <a:p>
            <a:pPr lvl="1"/>
            <a:endParaRPr kumimoji="1" lang="en-US" altLang="zh-CN" sz="2200"/>
          </a:p>
          <a:p>
            <a:r>
              <a:rPr kumimoji="1" lang="en-US" altLang="zh-CN" sz="2200"/>
              <a:t>D99</a:t>
            </a:r>
            <a:r>
              <a:rPr kumimoji="1" lang="zh-CN" altLang="en-US" sz="2200"/>
              <a:t>初期压测任务概况</a:t>
            </a:r>
            <a:endParaRPr kumimoji="1" lang="en-US" altLang="zh-CN" sz="2200"/>
          </a:p>
          <a:p>
            <a:pPr lvl="1"/>
            <a:r>
              <a:rPr kumimoji="1" lang="zh-CN" altLang="en-US" sz="2200"/>
              <a:t>通过会议了解了产品背景，知晓压测需求，梳理链路，获取测试时间窗口。</a:t>
            </a:r>
            <a:endParaRPr kumimoji="1" lang="en-US" altLang="zh-CN" sz="2200"/>
          </a:p>
          <a:p>
            <a:pPr lvl="1"/>
            <a:r>
              <a:rPr kumimoji="1" lang="zh-CN" altLang="en-US" sz="2200"/>
              <a:t>我们提出了关于数据准确性、对环境有无影响的几点疑问。</a:t>
            </a:r>
            <a:endParaRPr kumimoji="1" lang="en-US" altLang="zh-CN" sz="2200"/>
          </a:p>
          <a:p>
            <a:pPr lvl="1"/>
            <a:r>
              <a:rPr kumimoji="1" lang="zh-CN" altLang="en-US" sz="2200"/>
              <a:t>遗留问题：需要尽快梳理接口目录</a:t>
            </a:r>
            <a:endParaRPr kumimoji="1" lang="en-US" altLang="zh-CN" sz="2200"/>
          </a:p>
          <a:p>
            <a:endParaRPr kumimoji="1" lang="en-US" altLang="zh-CN" sz="22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00B311-3585-4069-AAC6-CD443FA5B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986" y="1690688"/>
            <a:ext cx="3668014" cy="5167312"/>
          </a:xfrm>
          <a:custGeom>
            <a:avLst/>
            <a:gdLst>
              <a:gd name="connsiteX0" fmla="*/ 2391664 w 3668014"/>
              <a:gd name="connsiteY0" fmla="*/ 0 h 5167312"/>
              <a:gd name="connsiteX1" fmla="*/ 3668014 w 3668014"/>
              <a:gd name="connsiteY1" fmla="*/ 0 h 5167312"/>
              <a:gd name="connsiteX2" fmla="*/ 3668014 w 3668014"/>
              <a:gd name="connsiteY2" fmla="*/ 5167312 h 5167312"/>
              <a:gd name="connsiteX3" fmla="*/ 0 w 3668014"/>
              <a:gd name="connsiteY3" fmla="*/ 5167312 h 5167312"/>
              <a:gd name="connsiteX4" fmla="*/ 2393879 w 3668014"/>
              <a:gd name="connsiteY4" fmla="*/ 952 h 5167312"/>
              <a:gd name="connsiteX5" fmla="*/ 2391664 w 3668014"/>
              <a:gd name="connsiteY5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68014" h="5167312">
                <a:moveTo>
                  <a:pt x="2391664" y="0"/>
                </a:moveTo>
                <a:lnTo>
                  <a:pt x="3668014" y="0"/>
                </a:lnTo>
                <a:lnTo>
                  <a:pt x="3668014" y="5167312"/>
                </a:lnTo>
                <a:lnTo>
                  <a:pt x="0" y="5167312"/>
                </a:lnTo>
                <a:lnTo>
                  <a:pt x="2393879" y="952"/>
                </a:lnTo>
                <a:lnTo>
                  <a:pt x="2391664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F325F0-56D0-8C44-AB7D-8BDF93647E0E}"/>
              </a:ext>
            </a:extLst>
          </p:cNvPr>
          <p:cNvSpPr txBox="1"/>
          <p:nvPr/>
        </p:nvSpPr>
        <p:spPr>
          <a:xfrm>
            <a:off x="838201" y="712830"/>
            <a:ext cx="735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测试背景</a:t>
            </a:r>
          </a:p>
        </p:txBody>
      </p:sp>
    </p:spTree>
    <p:extLst>
      <p:ext uri="{BB962C8B-B14F-4D97-AF65-F5344CB8AC3E}">
        <p14:creationId xmlns:p14="http://schemas.microsoft.com/office/powerpoint/2010/main" val="1188152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1">
            <a:extLst>
              <a:ext uri="{FF2B5EF4-FFF2-40B4-BE49-F238E27FC236}">
                <a16:creationId xmlns:a16="http://schemas.microsoft.com/office/drawing/2014/main" id="{7264F718-7FAC-4056-9FA9-A603EC682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0"/>
            <a:ext cx="121904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3">
            <a:extLst>
              <a:ext uri="{FF2B5EF4-FFF2-40B4-BE49-F238E27FC236}">
                <a16:creationId xmlns:a16="http://schemas.microsoft.com/office/drawing/2014/main" id="{F74639F7-E3C7-4165-A83E-6386A86BA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6356349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B3AF0F1-707A-463E-B5EE-33C63A40C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5979591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0" name="内容占位符 2">
            <a:extLst>
              <a:ext uri="{FF2B5EF4-FFF2-40B4-BE49-F238E27FC236}">
                <a16:creationId xmlns:a16="http://schemas.microsoft.com/office/drawing/2014/main" id="{E0C96553-A67A-4C1C-96DB-030CD9DF59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12410" y="704088"/>
          <a:ext cx="5135293" cy="5248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B5DCFD79-91E4-754B-84A0-3F54DD645C23}"/>
              </a:ext>
            </a:extLst>
          </p:cNvPr>
          <p:cNvSpPr txBox="1"/>
          <p:nvPr/>
        </p:nvSpPr>
        <p:spPr>
          <a:xfrm>
            <a:off x="742950" y="2505759"/>
            <a:ext cx="2957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调研结果</a:t>
            </a:r>
          </a:p>
        </p:txBody>
      </p:sp>
    </p:spTree>
    <p:extLst>
      <p:ext uri="{BB962C8B-B14F-4D97-AF65-F5344CB8AC3E}">
        <p14:creationId xmlns:p14="http://schemas.microsoft.com/office/powerpoint/2010/main" val="635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497DF1-A188-484C-BEFE-FAC7E7EB5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17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中期业务调整</a:t>
            </a:r>
            <a:endParaRPr kumimoji="1" lang="en-US" altLang="zh-CN" dirty="0"/>
          </a:p>
          <a:p>
            <a:endParaRPr kumimoji="1" lang="en-US" altLang="zh-CN" dirty="0"/>
          </a:p>
          <a:p>
            <a:pPr lvl="1"/>
            <a:r>
              <a:rPr kumimoji="1" lang="zh-CN" altLang="en-US" dirty="0"/>
              <a:t>原有方式：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风险：第三方应用直接请求游戏正服获取线上数据，对生产环境的稳定性以及数据安全性有极大隐患。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改动目标：</a:t>
            </a:r>
            <a:r>
              <a:rPr kumimoji="1" lang="en-US" altLang="zh-CN" dirty="0"/>
              <a:t>d99</a:t>
            </a:r>
            <a:r>
              <a:rPr kumimoji="1" lang="zh-CN" altLang="en-US" dirty="0"/>
              <a:t>需要的数据统一通过</a:t>
            </a:r>
            <a:r>
              <a:rPr kumimoji="1" lang="en-US" altLang="zh-CN" dirty="0"/>
              <a:t>DMP</a:t>
            </a:r>
            <a:r>
              <a:rPr kumimoji="1" lang="zh-CN" altLang="en-US" dirty="0"/>
              <a:t>专用接口查询获取。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5F726E2-E4AE-9B4C-8E7B-E94B16841DE0}"/>
              </a:ext>
            </a:extLst>
          </p:cNvPr>
          <p:cNvSpPr/>
          <p:nvPr/>
        </p:nvSpPr>
        <p:spPr>
          <a:xfrm>
            <a:off x="3915031" y="1359245"/>
            <a:ext cx="902043" cy="469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game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1E1B5FB-4DBA-EB46-8FC5-069AE7524857}"/>
              </a:ext>
            </a:extLst>
          </p:cNvPr>
          <p:cNvSpPr/>
          <p:nvPr/>
        </p:nvSpPr>
        <p:spPr>
          <a:xfrm>
            <a:off x="3739979" y="2644347"/>
            <a:ext cx="889686" cy="4942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d99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15FA174-105F-044E-B95F-C979B2398217}"/>
              </a:ext>
            </a:extLst>
          </p:cNvPr>
          <p:cNvSpPr/>
          <p:nvPr/>
        </p:nvSpPr>
        <p:spPr>
          <a:xfrm>
            <a:off x="5931241" y="1359245"/>
            <a:ext cx="1025611" cy="5560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dmp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D03A50A-4731-7544-AE57-EC05225A7D40}"/>
              </a:ext>
            </a:extLst>
          </p:cNvPr>
          <p:cNvSpPr/>
          <p:nvPr/>
        </p:nvSpPr>
        <p:spPr>
          <a:xfrm>
            <a:off x="5931241" y="2545493"/>
            <a:ext cx="1025611" cy="5931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player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28EB572-8555-3D43-9869-F953124EA2AF}"/>
              </a:ext>
            </a:extLst>
          </p:cNvPr>
          <p:cNvCxnSpPr>
            <a:cxnSpLocks/>
          </p:cNvCxnSpPr>
          <p:nvPr/>
        </p:nvCxnSpPr>
        <p:spPr>
          <a:xfrm flipV="1">
            <a:off x="4065372" y="1915299"/>
            <a:ext cx="119450" cy="630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C78179F-1FDF-5546-B8B2-EB812AC77C5D}"/>
              </a:ext>
            </a:extLst>
          </p:cNvPr>
          <p:cNvCxnSpPr>
            <a:cxnSpLocks/>
          </p:cNvCxnSpPr>
          <p:nvPr/>
        </p:nvCxnSpPr>
        <p:spPr>
          <a:xfrm>
            <a:off x="5008087" y="1674342"/>
            <a:ext cx="85364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D78590F6-E1EB-F049-A39F-0CE7DD5DA315}"/>
              </a:ext>
            </a:extLst>
          </p:cNvPr>
          <p:cNvCxnSpPr>
            <a:cxnSpLocks/>
          </p:cNvCxnSpPr>
          <p:nvPr/>
        </p:nvCxnSpPr>
        <p:spPr>
          <a:xfrm flipH="1">
            <a:off x="4947334" y="1445742"/>
            <a:ext cx="853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C88AF54-B102-4C42-ACBD-3745A895265B}"/>
              </a:ext>
            </a:extLst>
          </p:cNvPr>
          <p:cNvCxnSpPr>
            <a:cxnSpLocks/>
          </p:cNvCxnSpPr>
          <p:nvPr/>
        </p:nvCxnSpPr>
        <p:spPr>
          <a:xfrm flipH="1">
            <a:off x="4366052" y="1981287"/>
            <a:ext cx="154458" cy="555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CA93BBB9-4566-3D4D-80E4-4808B8FC24C5}"/>
              </a:ext>
            </a:extLst>
          </p:cNvPr>
          <p:cNvCxnSpPr>
            <a:cxnSpLocks/>
          </p:cNvCxnSpPr>
          <p:nvPr/>
        </p:nvCxnSpPr>
        <p:spPr>
          <a:xfrm>
            <a:off x="4853629" y="2834890"/>
            <a:ext cx="85364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68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4DA39-0E5A-424C-940C-687B6C8FF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kumimoji="1" lang="zh-CN" altLang="en-US" sz="2400" dirty="0"/>
              <a:t>再次提测：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pPr lvl="1"/>
            <a:r>
              <a:rPr kumimoji="1" lang="zh-CN" altLang="en-US" dirty="0"/>
              <a:t>梳理</a:t>
            </a:r>
            <a:r>
              <a:rPr kumimoji="1" lang="en-US" altLang="zh-CN" dirty="0"/>
              <a:t>API</a:t>
            </a:r>
            <a:r>
              <a:rPr kumimoji="1" lang="zh-CN" altLang="en-US" dirty="0"/>
              <a:t>调用逻辑：文档描述</a:t>
            </a:r>
            <a:r>
              <a:rPr kumimoji="1" lang="en-US" altLang="zh-CN" dirty="0"/>
              <a:t>+app</a:t>
            </a:r>
            <a:r>
              <a:rPr kumimoji="1" lang="zh-CN" altLang="en-US" dirty="0"/>
              <a:t>黑盒对照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圈画压测接口范围：用户操作路径短、使用频繁、产生高并发请求几率   </a:t>
            </a:r>
            <a:r>
              <a:rPr kumimoji="1" lang="en-US" altLang="zh-CN" dirty="0"/>
              <a:t>			</a:t>
            </a:r>
            <a:r>
              <a:rPr kumimoji="1" lang="zh-CN" altLang="en-US" dirty="0"/>
              <a:t>       高的接口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确定压测目标：单接口</a:t>
            </a:r>
            <a:r>
              <a:rPr kumimoji="1" lang="en-US" altLang="zh-CN" dirty="0"/>
              <a:t>QPS</a:t>
            </a:r>
            <a:r>
              <a:rPr kumimoji="1" lang="zh-CN" altLang="en-US" dirty="0"/>
              <a:t>：</a:t>
            </a:r>
            <a:r>
              <a:rPr kumimoji="1" lang="en-US" altLang="zh-CN" dirty="0"/>
              <a:t>50</a:t>
            </a:r>
            <a:r>
              <a:rPr kumimoji="1" lang="zh-CN" altLang="en-US" dirty="0"/>
              <a:t>（依据需求方评估上线承载量）</a:t>
            </a:r>
            <a:endParaRPr kumimoji="1" lang="en-US" altLang="zh-CN" dirty="0"/>
          </a:p>
          <a:p>
            <a:endParaRPr kumimoji="1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09880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A5D6D04-32E9-4AF7-BB82-DB2D0C0B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628FDE-E2B6-4A4E-892A-5C5E31328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58899" y="1277577"/>
            <a:ext cx="3862838" cy="1852181"/>
          </a:xfrm>
          <a:custGeom>
            <a:avLst/>
            <a:gdLst/>
            <a:ahLst/>
            <a:cxnLst/>
            <a:rect l="l" t="t" r="r" b="b"/>
            <a:pathLst>
              <a:path w="4926150" h="2331720">
                <a:moveTo>
                  <a:pt x="0" y="0"/>
                </a:moveTo>
                <a:lnTo>
                  <a:pt x="4926150" y="0"/>
                </a:lnTo>
                <a:lnTo>
                  <a:pt x="4926150" y="2331720"/>
                </a:lnTo>
                <a:lnTo>
                  <a:pt x="0" y="2331720"/>
                </a:lnTo>
                <a:close/>
              </a:path>
            </a:pathLst>
          </a:cu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03DA25-8449-B740-B15E-596AC87A8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799" y="3719172"/>
            <a:ext cx="4812938" cy="2093628"/>
          </a:xfrm>
          <a:custGeom>
            <a:avLst/>
            <a:gdLst/>
            <a:ahLst/>
            <a:cxnLst/>
            <a:rect l="l" t="t" r="r" b="b"/>
            <a:pathLst>
              <a:path w="3976051" h="2331947">
                <a:moveTo>
                  <a:pt x="0" y="0"/>
                </a:moveTo>
                <a:lnTo>
                  <a:pt x="3976051" y="0"/>
                </a:lnTo>
                <a:lnTo>
                  <a:pt x="3976051" y="2331947"/>
                </a:lnTo>
                <a:lnTo>
                  <a:pt x="0" y="2331947"/>
                </a:lnTo>
                <a:close/>
              </a:path>
            </a:pathLst>
          </a:cu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87CFBC5-FC0C-4C1E-BAFB-689E9866B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23805"/>
            <a:ext cx="7800441" cy="5696020"/>
          </a:xfrm>
          <a:custGeom>
            <a:avLst/>
            <a:gdLst>
              <a:gd name="connsiteX0" fmla="*/ 0 w 7800441"/>
              <a:gd name="connsiteY0" fmla="*/ 0 h 5696020"/>
              <a:gd name="connsiteX1" fmla="*/ 7800441 w 7800441"/>
              <a:gd name="connsiteY1" fmla="*/ 0 h 5696020"/>
              <a:gd name="connsiteX2" fmla="*/ 5037161 w 7800441"/>
              <a:gd name="connsiteY2" fmla="*/ 5696020 h 5696020"/>
              <a:gd name="connsiteX3" fmla="*/ 0 w 7800441"/>
              <a:gd name="connsiteY3" fmla="*/ 5696020 h 56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0441" h="5696020">
                <a:moveTo>
                  <a:pt x="0" y="0"/>
                </a:moveTo>
                <a:lnTo>
                  <a:pt x="7800441" y="0"/>
                </a:lnTo>
                <a:lnTo>
                  <a:pt x="5037161" y="5696020"/>
                </a:lnTo>
                <a:lnTo>
                  <a:pt x="0" y="569602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0F9EF3-0D8F-5C46-AD8D-76BD7D0C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5111496" cy="1097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z="4400">
                <a:solidFill>
                  <a:schemeClr val="bg1"/>
                </a:solidFill>
              </a:rPr>
              <a:t>首轮压测结果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441A87-EF84-D94E-9453-FEA336772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331720"/>
            <a:ext cx="4379976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zh-CN" altLang="en-US" sz="1900">
                <a:solidFill>
                  <a:schemeClr val="bg1"/>
                </a:solidFill>
              </a:rPr>
              <a:t>接口响应时间普遍较长</a:t>
            </a:r>
            <a:endParaRPr kumimoji="1" lang="en-US" altLang="zh-CN" sz="1900">
              <a:solidFill>
                <a:schemeClr val="bg1"/>
              </a:solidFill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zh-CN" sz="1900">
              <a:solidFill>
                <a:schemeClr val="bg1"/>
              </a:solidFill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zh-CN" altLang="en-US" sz="1900">
                <a:solidFill>
                  <a:schemeClr val="bg1"/>
                </a:solidFill>
              </a:rPr>
              <a:t>部分接口功能不完善，有报错</a:t>
            </a:r>
            <a:endParaRPr kumimoji="1" lang="en-US" altLang="zh-CN" sz="1900">
              <a:solidFill>
                <a:schemeClr val="bg1"/>
              </a:solidFill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zh-CN" sz="1900">
              <a:solidFill>
                <a:schemeClr val="bg1"/>
              </a:solidFill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en-US" altLang="zh-CN" sz="1900">
                <a:solidFill>
                  <a:schemeClr val="bg1"/>
                </a:solidFill>
              </a:rPr>
              <a:t>Sql</a:t>
            </a:r>
            <a:r>
              <a:rPr kumimoji="1" lang="zh-CN" altLang="en-US" sz="1900">
                <a:solidFill>
                  <a:schemeClr val="bg1"/>
                </a:solidFill>
              </a:rPr>
              <a:t>逻辑部分优化空间大，有些接口对</a:t>
            </a:r>
            <a:r>
              <a:rPr kumimoji="1" lang="en-US" altLang="zh-CN" sz="1900">
                <a:solidFill>
                  <a:schemeClr val="bg1"/>
                </a:solidFill>
              </a:rPr>
              <a:t>DB</a:t>
            </a:r>
            <a:r>
              <a:rPr kumimoji="1" lang="zh-CN" altLang="en-US" sz="1900">
                <a:solidFill>
                  <a:schemeClr val="bg1"/>
                </a:solidFill>
              </a:rPr>
              <a:t>造成巨大压力</a:t>
            </a:r>
            <a:endParaRPr kumimoji="1" lang="en-US" altLang="zh-CN" sz="1900">
              <a:solidFill>
                <a:schemeClr val="bg1"/>
              </a:solidFill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zh-CN" sz="1900">
              <a:solidFill>
                <a:schemeClr val="bg1"/>
              </a:solidFill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kumimoji="1" lang="zh-CN" altLang="en-US" sz="1900">
                <a:solidFill>
                  <a:schemeClr val="bg1"/>
                </a:solidFill>
              </a:rPr>
              <a:t>将有性能问题的接口汇总给研发进行优化，等待优化后再次测试，本轮结束</a:t>
            </a:r>
            <a:endParaRPr kumimoji="1" lang="en-US" altLang="zh-CN" sz="1900">
              <a:solidFill>
                <a:schemeClr val="bg1"/>
              </a:solidFill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endParaRPr kumimoji="1" lang="en-US" altLang="zh-CN" sz="1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03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CE558-8BCB-E74D-B122-31B45E13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034DCC-4739-7E46-9657-05C0B8327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589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486</Words>
  <Application>Microsoft Macintosh PowerPoint</Application>
  <PresentationFormat>宽屏</PresentationFormat>
  <Paragraphs>68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D99星性能测试回顾与 心得分享</vt:lpstr>
      <vt:lpstr>PowerPoint 演示文稿</vt:lpstr>
      <vt:lpstr>PowerPoint 演示文稿</vt:lpstr>
      <vt:lpstr>PowerPoint 演示文稿</vt:lpstr>
      <vt:lpstr>PowerPoint 演示文稿</vt:lpstr>
      <vt:lpstr>首轮压测结果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D99星性能测试回顾与 经验分享</dc:title>
  <dc:creator>Renfei Wang</dc:creator>
  <cp:lastModifiedBy>Renfei Wang</cp:lastModifiedBy>
  <cp:revision>20</cp:revision>
  <dcterms:created xsi:type="dcterms:W3CDTF">2021-08-09T10:00:29Z</dcterms:created>
  <dcterms:modified xsi:type="dcterms:W3CDTF">2021-08-10T12:27:35Z</dcterms:modified>
</cp:coreProperties>
</file>