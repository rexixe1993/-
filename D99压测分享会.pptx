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708" r:id="rId1"/>
  </p:sldMasterIdLst>
  <p:notesMasterIdLst>
    <p:notesMasterId r:id="rId15"/>
  </p:notesMasterIdLst>
  <p:sldIdLst>
    <p:sldId id="256" r:id="rId2"/>
    <p:sldId id="270" r:id="rId3"/>
    <p:sldId id="271" r:id="rId4"/>
    <p:sldId id="259" r:id="rId5"/>
    <p:sldId id="272" r:id="rId6"/>
    <p:sldId id="261" r:id="rId7"/>
    <p:sldId id="263" r:id="rId8"/>
    <p:sldId id="264" r:id="rId9"/>
    <p:sldId id="265" r:id="rId10"/>
    <p:sldId id="266" r:id="rId11"/>
    <p:sldId id="267" r:id="rId12"/>
    <p:sldId id="268" r:id="rId13"/>
    <p:sldId id="269" r:id="rId1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Renfei Wang" initials="RW" lastIdx="3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364"/>
    <p:restoredTop sz="71629"/>
  </p:normalViewPr>
  <p:slideViewPr>
    <p:cSldViewPr snapToGrid="0" snapToObjects="1">
      <p:cViewPr varScale="1">
        <p:scale>
          <a:sx n="87" d="100"/>
          <a:sy n="87" d="100"/>
        </p:scale>
        <p:origin x="144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commentAuthors" Target="commentAuthors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9A3BA49-6A69-CE49-AA12-691E61A9F13F}" type="datetimeFigureOut">
              <a:rPr kumimoji="1" lang="zh-CN" altLang="en-US" smtClean="0"/>
              <a:t>2021/8/16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D47ADAC-F727-DF42-84A1-53F383BC088E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47ADAC-F727-DF42-84A1-53F383BC088E}" type="slidenum">
              <a:rPr kumimoji="1" lang="zh-CN" altLang="en-US" smtClean="0"/>
              <a:t>2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80824215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47ADAC-F727-DF42-84A1-53F383BC088E}" type="slidenum">
              <a:rPr kumimoji="1" lang="zh-CN" altLang="en-US" smtClean="0"/>
              <a:t>3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61716212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1" lang="zh-CN" altLang="en-US" dirty="0"/>
              <a:t>影响： </a:t>
            </a:r>
            <a:r>
              <a:rPr kumimoji="1" lang="en-GB" altLang="zh-CN" dirty="0"/>
              <a:t>App</a:t>
            </a:r>
            <a:r>
              <a:rPr kumimoji="1" lang="zh-CN" altLang="en-US" dirty="0"/>
              <a:t>获取玩家游戏数据的方式需要做大规模调整，造成了时间线整体后移，接口梳理不理想并未影响到项目进度。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1" lang="zh-CN" alt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1" lang="zh-CN" altLang="en-US" dirty="0"/>
              <a:t>说一下既定的压测流程：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1" lang="zh-CN" altLang="en-US" dirty="0"/>
              <a:t>先功能、再性能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1" lang="zh-CN" alt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1" lang="zh-CN" altLang="en-US" dirty="0"/>
              <a:t>业务逻辑调整</a:t>
            </a:r>
            <a:r>
              <a:rPr kumimoji="1" lang="en-US" altLang="zh-CN" dirty="0"/>
              <a:t>——</a:t>
            </a:r>
            <a:r>
              <a:rPr kumimoji="1" lang="zh-CN" altLang="en-US" dirty="0"/>
              <a:t>功能调整</a:t>
            </a:r>
            <a:r>
              <a:rPr kumimoji="1" lang="en-US" altLang="zh-CN" dirty="0"/>
              <a:t>——</a:t>
            </a:r>
            <a:r>
              <a:rPr kumimoji="1" lang="zh-CN" altLang="en-US" dirty="0"/>
              <a:t>功能重测</a:t>
            </a:r>
            <a:r>
              <a:rPr kumimoji="1" lang="en-US" altLang="zh-CN" dirty="0"/>
              <a:t>——</a:t>
            </a:r>
            <a:r>
              <a:rPr kumimoji="1" lang="zh-CN" altLang="en-US" dirty="0"/>
              <a:t>等待压测推迟了若干个月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br>
              <a:rPr kumimoji="1" lang="en-US" altLang="zh-CN" dirty="0"/>
            </a:br>
            <a:br>
              <a:rPr kumimoji="1" lang="en-US" altLang="zh-CN" dirty="0"/>
            </a:br>
            <a:r>
              <a:rPr kumimoji="1" lang="zh-CN" altLang="en-US" dirty="0"/>
              <a:t>后续：等待开发完成，功能测试结束，代码封版</a:t>
            </a:r>
            <a:r>
              <a:rPr kumimoji="1" lang="en-US" altLang="zh-CN" dirty="0"/>
              <a:t> </a:t>
            </a:r>
            <a:r>
              <a:rPr kumimoji="1" lang="zh-CN" altLang="en-US" dirty="0"/>
              <a:t>提测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47ADAC-F727-DF42-84A1-53F383BC088E}" type="slidenum">
              <a:rPr kumimoji="1" lang="zh-CN" altLang="en-US" smtClean="0"/>
              <a:t>4</a:t>
            </a:fld>
            <a:endParaRPr kumimoji="1"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zh-CN" dirty="0"/>
              <a:t>部分接口极易使</a:t>
            </a:r>
            <a:r>
              <a:rPr kumimoji="1" lang="en-US" altLang="zh-CN" dirty="0"/>
              <a:t>DB</a:t>
            </a:r>
            <a:r>
              <a:rPr kumimoji="1" lang="zh-CN" altLang="en-US" dirty="0"/>
              <a:t>的</a:t>
            </a:r>
            <a:r>
              <a:rPr kumimoji="1" lang="en-US" altLang="zh-CN" dirty="0"/>
              <a:t>cpu</a:t>
            </a:r>
            <a:r>
              <a:rPr kumimoji="1" lang="zh-CN" altLang="en-US" dirty="0"/>
              <a:t>使用激增至</a:t>
            </a:r>
            <a:r>
              <a:rPr kumimoji="1" lang="en-US" altLang="zh-CN" dirty="0"/>
              <a:t>100%</a:t>
            </a:r>
            <a:r>
              <a:rPr kumimoji="1" lang="zh-CN" altLang="en-US" dirty="0"/>
              <a:t>，</a:t>
            </a:r>
            <a:r>
              <a:rPr kumimoji="1" lang="en-US" altLang="zh-CN" dirty="0"/>
              <a:t>     </a:t>
            </a:r>
            <a:r>
              <a:rPr kumimoji="1" lang="zh-CN" altLang="en-US" dirty="0"/>
              <a:t>应用本身也是</a:t>
            </a:r>
          </a:p>
          <a:p>
            <a:endParaRPr kumimoji="1" lang="zh-CN" altLang="en-US" dirty="0"/>
          </a:p>
          <a:p>
            <a:r>
              <a:rPr kumimoji="1" lang="zh-CN" altLang="en-US" dirty="0"/>
              <a:t>查找问题接口：</a:t>
            </a:r>
          </a:p>
          <a:p>
            <a:r>
              <a:rPr kumimoji="1" lang="zh-CN" altLang="en-US" dirty="0"/>
              <a:t>分组，二分法，直到定位到</a:t>
            </a:r>
            <a:endParaRPr kumimoji="1" lang="en-US" altLang="zh-CN" dirty="0"/>
          </a:p>
          <a:p>
            <a:endParaRPr kumimoji="1" lang="en-US" altLang="zh-CN" dirty="0"/>
          </a:p>
          <a:p>
            <a:r>
              <a:rPr kumimoji="1" lang="zh-CN" altLang="en-US" dirty="0"/>
              <a:t>最后定位到：</a:t>
            </a:r>
            <a:r>
              <a:rPr kumimoji="1" lang="en-US" altLang="zh-CN" dirty="0"/>
              <a:t> </a:t>
            </a:r>
          </a:p>
          <a:p>
            <a:r>
              <a:rPr kumimoji="1" lang="en-US" altLang="zh-CN" dirty="0"/>
              <a:t>D99</a:t>
            </a:r>
            <a:r>
              <a:rPr kumimoji="1" lang="zh-CN" altLang="en-US" dirty="0"/>
              <a:t>方</a:t>
            </a:r>
            <a:r>
              <a:rPr kumimoji="1" lang="en-US" altLang="zh-CN" dirty="0"/>
              <a:t>3</a:t>
            </a:r>
            <a:r>
              <a:rPr kumimoji="1" lang="zh-CN" altLang="en-US" dirty="0"/>
              <a:t>个极慢接口</a:t>
            </a:r>
            <a:r>
              <a:rPr kumimoji="1" lang="en-US" altLang="zh-CN" dirty="0"/>
              <a:t>     </a:t>
            </a:r>
          </a:p>
          <a:p>
            <a:r>
              <a:rPr kumimoji="1" lang="en-US" altLang="zh-CN" dirty="0"/>
              <a:t>DMP</a:t>
            </a:r>
            <a:r>
              <a:rPr kumimoji="1" lang="zh-CN" altLang="en-US" dirty="0"/>
              <a:t>新研发的个别接口并发情况下有报错</a:t>
            </a:r>
          </a:p>
          <a:p>
            <a:endParaRPr kumimoji="1" lang="zh-CN" altLang="en-US" dirty="0"/>
          </a:p>
          <a:p>
            <a:r>
              <a:rPr kumimoji="1" lang="zh-CN" altLang="en-US" dirty="0"/>
              <a:t>反馈</a:t>
            </a:r>
            <a:r>
              <a:rPr kumimoji="1" lang="en-US" altLang="zh-CN" dirty="0"/>
              <a:t> </a:t>
            </a:r>
            <a:r>
              <a:rPr kumimoji="1" lang="zh-CN" altLang="en-US" dirty="0"/>
              <a:t>等待修改</a:t>
            </a:r>
          </a:p>
          <a:p>
            <a:endParaRPr kumimoji="1" lang="zh-CN" altLang="en-US" dirty="0"/>
          </a:p>
          <a:p>
            <a:r>
              <a:rPr kumimoji="1" lang="zh-CN" altLang="en-US" dirty="0"/>
              <a:t>一阶段压测结束。</a:t>
            </a:r>
            <a:endParaRPr kumimoji="1" lang="en-US" altLang="zh-CN" dirty="0"/>
          </a:p>
          <a:p>
            <a:r>
              <a:rPr kumimoji="1" lang="zh-CN" altLang="en-US" dirty="0"/>
              <a:t>结论：</a:t>
            </a:r>
            <a:r>
              <a:rPr kumimoji="1" lang="en-US" altLang="zh-CN" dirty="0"/>
              <a:t> </a:t>
            </a:r>
            <a:r>
              <a:rPr kumimoji="1" lang="zh-CN" altLang="en-US" dirty="0"/>
              <a:t>接口性能不达标，没有达到预期，</a:t>
            </a:r>
            <a:r>
              <a:rPr kumimoji="1" lang="en-US" altLang="zh-CN" dirty="0"/>
              <a:t> </a:t>
            </a:r>
            <a:r>
              <a:rPr kumimoji="1" lang="zh-CN" altLang="en-US" dirty="0"/>
              <a:t>需优化</a:t>
            </a:r>
            <a:r>
              <a:rPr kumimoji="1" lang="en-US" altLang="zh-CN" dirty="0"/>
              <a:t>sql</a:t>
            </a:r>
            <a:r>
              <a:rPr kumimoji="1" lang="zh-CN" altLang="en-US" dirty="0"/>
              <a:t>部分逻辑。</a:t>
            </a:r>
          </a:p>
          <a:p>
            <a:endParaRPr kumimoji="1" lang="zh-CN" altLang="en-US" dirty="0"/>
          </a:p>
          <a:p>
            <a:r>
              <a:rPr kumimoji="1" lang="zh-CN" altLang="en-US" dirty="0"/>
              <a:t>若上线则极大几率造成</a:t>
            </a:r>
            <a:r>
              <a:rPr kumimoji="1" lang="en-US" altLang="zh-CN" dirty="0"/>
              <a:t>D99 app </a:t>
            </a:r>
            <a:r>
              <a:rPr kumimoji="1" lang="zh-CN" altLang="en-US" dirty="0"/>
              <a:t>工作异常。</a:t>
            </a:r>
            <a:endParaRPr kumimoji="1"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47ADAC-F727-DF42-84A1-53F383BC088E}" type="slidenum">
              <a:rPr kumimoji="1" lang="zh-CN" altLang="en-US" smtClean="0"/>
              <a:t>6</a:t>
            </a:fld>
            <a:endParaRPr kumimoji="1" lang="zh-CN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rPr lang="zh-CN" altLang="en-US" dirty="0"/>
              <a:t>根据压测结果，和客观情况评估，原</a:t>
            </a:r>
            <a:r>
              <a:rPr lang="en-US" altLang="zh-CN" dirty="0"/>
              <a:t>D99 app</a:t>
            </a:r>
            <a:r>
              <a:rPr lang="zh-CN" altLang="en-US" dirty="0"/>
              <a:t>方案达不到交付要求，废弃。</a:t>
            </a:r>
          </a:p>
          <a:p>
            <a:endParaRPr lang="zh-CN" altLang="en-US" dirty="0"/>
          </a:p>
          <a:p>
            <a:r>
              <a:rPr lang="zh-CN" altLang="en-US" dirty="0"/>
              <a:t>产品中心负责重新设计开发（阿正写的）</a:t>
            </a:r>
          </a:p>
          <a:p>
            <a:endParaRPr lang="zh-CN" altLang="en-US" dirty="0"/>
          </a:p>
          <a:p>
            <a:r>
              <a:rPr lang="en-US" altLang="zh-CN" dirty="0"/>
              <a:t>DMP</a:t>
            </a:r>
            <a:r>
              <a:rPr lang="zh-CN" altLang="en-US" dirty="0"/>
              <a:t>接口优化后等待接入</a:t>
            </a:r>
          </a:p>
          <a:p>
            <a:endParaRPr lang="zh-CN" altLang="en-US" dirty="0"/>
          </a:p>
          <a:p>
            <a:endParaRPr lang="zh-CN" altLang="en-US" dirty="0"/>
          </a:p>
          <a:p>
            <a:r>
              <a:rPr lang="zh-CN" altLang="en-US" dirty="0"/>
              <a:t>检验目的；</a:t>
            </a:r>
            <a:br>
              <a:rPr lang="zh-CN" altLang="en-US" dirty="0"/>
            </a:br>
            <a:r>
              <a:rPr lang="en-US" altLang="zh-CN" dirty="0"/>
              <a:t>DMP</a:t>
            </a:r>
            <a:r>
              <a:rPr lang="zh-CN" altLang="en-US" dirty="0"/>
              <a:t>报错接口是否存在</a:t>
            </a:r>
          </a:p>
          <a:p>
            <a:r>
              <a:rPr lang="zh-CN" altLang="en-US" dirty="0"/>
              <a:t>是否有性能短板</a:t>
            </a:r>
          </a:p>
          <a:p>
            <a:r>
              <a:rPr lang="zh-CN" altLang="en-US" dirty="0"/>
              <a:t>新增的缓存策略带来的性能提升</a:t>
            </a:r>
          </a:p>
          <a:p>
            <a:r>
              <a:rPr lang="zh-CN" altLang="en-US" dirty="0"/>
              <a:t>为业务方提供决策数据支撑</a:t>
            </a:r>
          </a:p>
          <a:p>
            <a:endParaRPr lang="zh-CN" altLang="en-US" dirty="0"/>
          </a:p>
          <a:p>
            <a:endParaRPr lang="zh-CN" altLang="en-US" dirty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rPr lang="zh-CN" altLang="en-US"/>
              <a:t>为什么改流程：</a:t>
            </a:r>
          </a:p>
          <a:p>
            <a:r>
              <a:rPr lang="zh-CN" altLang="en-US"/>
              <a:t>沟通成本相较之前降低很多，研发阶段已完成功能自测，前置压测可缩短工期</a:t>
            </a:r>
          </a:p>
          <a:p>
            <a:endParaRPr lang="zh-CN" altLang="en-US"/>
          </a:p>
          <a:p>
            <a:endParaRPr lang="zh-CN" altLang="en-US"/>
          </a:p>
          <a:p>
            <a:r>
              <a:rPr lang="en-US" altLang="zh-CN"/>
              <a:t>DMP</a:t>
            </a:r>
            <a:r>
              <a:rPr lang="zh-CN" altLang="en-US"/>
              <a:t>使用的阿里服务存在</a:t>
            </a:r>
            <a:r>
              <a:rPr lang="en-US" altLang="zh-CN"/>
              <a:t>qps</a:t>
            </a:r>
            <a:r>
              <a:rPr lang="zh-CN" altLang="en-US"/>
              <a:t>上限，目前是</a:t>
            </a:r>
            <a:r>
              <a:rPr lang="en-US" altLang="zh-CN"/>
              <a:t>200</a:t>
            </a:r>
          </a:p>
          <a:p>
            <a:endParaRPr lang="en-US" altLang="zh-CN"/>
          </a:p>
          <a:p>
            <a:r>
              <a:rPr lang="zh-CN" altLang="en-US"/>
              <a:t>目标：评估优化结果，排查异常，检验现有服务是否够用</a:t>
            </a:r>
            <a:endParaRPr lang="en-US" altLang="zh-CN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rPr lang="zh-CN" altLang="en-US" dirty="0"/>
              <a:t>经过几次调整</a:t>
            </a:r>
          </a:p>
          <a:p>
            <a:endParaRPr lang="zh-CN" altLang="en-US" dirty="0"/>
          </a:p>
          <a:p>
            <a:r>
              <a:rPr lang="zh-CN" altLang="en-US" dirty="0"/>
              <a:t>测试结果：</a:t>
            </a:r>
          </a:p>
          <a:p>
            <a:endParaRPr lang="zh-CN" altLang="en-US" dirty="0"/>
          </a:p>
          <a:p>
            <a:r>
              <a:rPr lang="zh-CN" altLang="en-US" dirty="0"/>
              <a:t>无报错，</a:t>
            </a:r>
            <a:r>
              <a:rPr lang="en-US" altLang="zh-CN" dirty="0" err="1"/>
              <a:t>sql</a:t>
            </a:r>
            <a:r>
              <a:rPr lang="zh-CN" altLang="en-US" dirty="0"/>
              <a:t>优化结果达到需求，缓存策略有效，可作为需进一步改善性能的部署方案</a:t>
            </a:r>
          </a:p>
          <a:p>
            <a:endParaRPr lang="zh-CN" altLang="en-US" dirty="0"/>
          </a:p>
          <a:p>
            <a:endParaRPr lang="zh-CN" altLang="en-US" dirty="0"/>
          </a:p>
          <a:p>
            <a:endParaRPr lang="zh-CN" altLang="en-US" dirty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rPr lang="zh-CN" altLang="en-US" dirty="0"/>
              <a:t>为什么说是性能无问题？</a:t>
            </a:r>
          </a:p>
          <a:p>
            <a:endParaRPr lang="zh-CN" altLang="en-US" dirty="0"/>
          </a:p>
          <a:p>
            <a:r>
              <a:rPr lang="zh-CN" altLang="en-US" dirty="0"/>
              <a:t>压测结果以</a:t>
            </a:r>
            <a:r>
              <a:rPr lang="en-US" altLang="zh-CN" dirty="0"/>
              <a:t> </a:t>
            </a:r>
            <a:r>
              <a:rPr lang="en-US" altLang="zh-CN" dirty="0" err="1"/>
              <a:t>cpu</a:t>
            </a:r>
            <a:r>
              <a:rPr lang="zh-CN" altLang="en-US" dirty="0"/>
              <a:t>使用率</a:t>
            </a:r>
            <a:r>
              <a:rPr lang="en-US" altLang="zh-CN" dirty="0"/>
              <a:t>85%~90</a:t>
            </a:r>
            <a:r>
              <a:rPr lang="zh-CN" altLang="en-US" dirty="0"/>
              <a:t>分位时的表现为准比较合适。</a:t>
            </a:r>
          </a:p>
          <a:p>
            <a:endParaRPr lang="zh-CN" altLang="en-US" dirty="0"/>
          </a:p>
          <a:p>
            <a:r>
              <a:rPr lang="zh-CN" altLang="en-US" dirty="0"/>
              <a:t>目前</a:t>
            </a:r>
            <a:r>
              <a:rPr lang="en-US" altLang="zh-CN" dirty="0" err="1"/>
              <a:t>qps</a:t>
            </a:r>
            <a:r>
              <a:rPr lang="zh-CN" altLang="en-US" dirty="0"/>
              <a:t>上限还无法开放，目前仅能用来验证功能、逻辑无误。</a:t>
            </a:r>
          </a:p>
          <a:p>
            <a:endParaRPr lang="zh-CN" altLang="en-US" dirty="0"/>
          </a:p>
          <a:p>
            <a:r>
              <a:rPr lang="zh-CN" altLang="en-US" dirty="0"/>
              <a:t>并不能说性能就一定没问题了</a:t>
            </a:r>
          </a:p>
          <a:p>
            <a:endParaRPr lang="zh-CN" altLang="en-US" dirty="0"/>
          </a:p>
          <a:p>
            <a:r>
              <a:rPr lang="zh-CN" altLang="en-US" dirty="0"/>
              <a:t>因为</a:t>
            </a:r>
            <a:r>
              <a:rPr lang="en-US" altLang="zh-CN" dirty="0" err="1"/>
              <a:t>cpu</a:t>
            </a:r>
            <a:r>
              <a:rPr lang="zh-CN" altLang="en-US" dirty="0"/>
              <a:t>使用率上去以后的性能表现是未知的</a:t>
            </a:r>
          </a:p>
          <a:p>
            <a:endParaRPr lang="zh-CN" altLang="en-US" dirty="0"/>
          </a:p>
          <a:p>
            <a:r>
              <a:rPr lang="zh-CN" altLang="en-US" dirty="0"/>
              <a:t>需要开上限后验证</a:t>
            </a:r>
          </a:p>
          <a:p>
            <a:endParaRPr lang="zh-CN" altLang="en-US" dirty="0"/>
          </a:p>
          <a:p>
            <a:endParaRPr lang="zh-CN" altLang="en-US" dirty="0"/>
          </a:p>
          <a:p>
            <a:endParaRPr lang="zh-CN" altLang="en-US" dirty="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rPr lang="zh-CN" altLang="en-US"/>
              <a:t>之前压测都是零散的小项目</a:t>
            </a:r>
          </a:p>
          <a:p>
            <a:endParaRPr lang="zh-CN" altLang="en-US"/>
          </a:p>
          <a:p>
            <a:r>
              <a:rPr lang="zh-CN" altLang="en-US"/>
              <a:t>首次独立负责完整项目的压测</a:t>
            </a:r>
          </a:p>
          <a:p>
            <a:endParaRPr lang="zh-CN" altLang="en-US"/>
          </a:p>
          <a:p>
            <a:r>
              <a:rPr lang="zh-CN" altLang="en-US"/>
              <a:t>前期：</a:t>
            </a:r>
            <a:r>
              <a:rPr lang="en-US" altLang="zh-CN"/>
              <a:t> </a:t>
            </a:r>
            <a:r>
              <a:rPr lang="zh-CN" altLang="en-US"/>
              <a:t>知道要干什么</a:t>
            </a:r>
            <a:r>
              <a:rPr lang="en-US" altLang="zh-CN"/>
              <a:t>  </a:t>
            </a:r>
            <a:r>
              <a:rPr lang="zh-CN" altLang="en-US"/>
              <a:t>怎么干</a:t>
            </a:r>
            <a:r>
              <a:rPr lang="en-US" altLang="zh-CN"/>
              <a:t>    </a:t>
            </a:r>
            <a:r>
              <a:rPr lang="zh-CN" altLang="en-US"/>
              <a:t>干成什么样，</a:t>
            </a:r>
            <a:r>
              <a:rPr lang="en-US" altLang="zh-CN"/>
              <a:t>  </a:t>
            </a:r>
            <a:r>
              <a:rPr lang="zh-CN" altLang="en-US"/>
              <a:t>应花最多时间在分析业务链路和制定压测目标</a:t>
            </a:r>
          </a:p>
          <a:p>
            <a:r>
              <a:rPr lang="zh-CN" altLang="en-US"/>
              <a:t>理清链路有助</a:t>
            </a:r>
            <a:r>
              <a:rPr lang="en-US" altLang="zh-CN"/>
              <a:t> </a:t>
            </a:r>
            <a:r>
              <a:rPr lang="zh-CN" altLang="en-US"/>
              <a:t>定位问题；制定目标</a:t>
            </a:r>
            <a:r>
              <a:rPr lang="en-US" altLang="zh-CN"/>
              <a:t>   </a:t>
            </a:r>
            <a:r>
              <a:rPr lang="zh-CN" altLang="en-US"/>
              <a:t>使结果有实际价值</a:t>
            </a:r>
          </a:p>
          <a:p>
            <a:endParaRPr lang="zh-CN" altLang="en-US"/>
          </a:p>
          <a:p>
            <a:r>
              <a:rPr lang="zh-CN" altLang="en-US"/>
              <a:t>中期：按部就班</a:t>
            </a:r>
            <a:r>
              <a:rPr lang="en-US" altLang="zh-CN"/>
              <a:t> </a:t>
            </a:r>
            <a:r>
              <a:rPr lang="zh-CN" altLang="en-US"/>
              <a:t>，</a:t>
            </a:r>
            <a:r>
              <a:rPr lang="en-US" altLang="zh-CN"/>
              <a:t> </a:t>
            </a:r>
            <a:r>
              <a:rPr lang="zh-CN" altLang="en-US"/>
              <a:t>实际在前期工作基础上进行操作</a:t>
            </a:r>
          </a:p>
          <a:p>
            <a:endParaRPr lang="zh-CN" altLang="en-US"/>
          </a:p>
          <a:p>
            <a:r>
              <a:rPr lang="zh-CN" altLang="en-US"/>
              <a:t>后期：准确阐述结果，</a:t>
            </a:r>
            <a:r>
              <a:rPr lang="en-US" altLang="zh-CN"/>
              <a:t> </a:t>
            </a:r>
            <a:r>
              <a:rPr lang="zh-CN" altLang="en-US"/>
              <a:t>并提供评估意见，</a:t>
            </a:r>
            <a:r>
              <a:rPr lang="en-US" altLang="zh-CN"/>
              <a:t>  </a:t>
            </a:r>
            <a:r>
              <a:rPr lang="zh-CN" altLang="en-US"/>
              <a:t>才使压测结果有意义</a:t>
            </a:r>
          </a:p>
          <a:p>
            <a:endParaRPr lang="zh-CN" altLang="en-US"/>
          </a:p>
          <a:p>
            <a:endParaRPr lang="zh-CN" altLang="en-US"/>
          </a:p>
          <a:p>
            <a:endParaRPr lang="zh-CN" altLang="en-US"/>
          </a:p>
          <a:p>
            <a:endParaRPr lang="zh-CN" alt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zh-CN" altLang="en-US" dirty="0"/>
              <a:t>思路：   比如     用户最短路径</a:t>
            </a:r>
            <a:endParaRPr kumimoji="1" lang="en-US" altLang="zh-CN" dirty="0"/>
          </a:p>
          <a:p>
            <a:endParaRPr kumimoji="1" lang="en-US" altLang="zh-CN" dirty="0"/>
          </a:p>
          <a:p>
            <a:r>
              <a:rPr kumimoji="1" lang="zh-CN" altLang="en-US" dirty="0"/>
              <a:t>方法：  </a:t>
            </a:r>
            <a:r>
              <a:rPr kumimoji="1" lang="en-US" altLang="zh-CN" dirty="0"/>
              <a:t>API</a:t>
            </a:r>
            <a:r>
              <a:rPr kumimoji="1" lang="zh-CN" altLang="en-US" dirty="0"/>
              <a:t>文档描述  </a:t>
            </a:r>
            <a:r>
              <a:rPr kumimoji="1" lang="en-US" altLang="zh-CN" dirty="0"/>
              <a:t>+</a:t>
            </a:r>
            <a:r>
              <a:rPr kumimoji="1" lang="zh-CN" altLang="en-US" dirty="0"/>
              <a:t> </a:t>
            </a:r>
            <a:r>
              <a:rPr kumimoji="1" lang="en-US" altLang="zh-CN" dirty="0"/>
              <a:t>app</a:t>
            </a:r>
            <a:r>
              <a:rPr kumimoji="1" lang="zh-CN" altLang="en-US" dirty="0"/>
              <a:t>实际场景</a:t>
            </a:r>
            <a:endParaRPr kumimoji="1" lang="en-US" altLang="zh-CN" dirty="0"/>
          </a:p>
          <a:p>
            <a:endParaRPr kumimoji="1" lang="en-US" altLang="zh-CN" dirty="0"/>
          </a:p>
          <a:p>
            <a:r>
              <a:rPr kumimoji="1" lang="zh-CN" altLang="en-US" dirty="0"/>
              <a:t>范围选取：   有侧重点，   关注   性能开销大    使用频率高      用户访问路径短      并发量大</a:t>
            </a:r>
            <a:endParaRPr kumimoji="1" lang="en-US" altLang="zh-CN" dirty="0"/>
          </a:p>
          <a:p>
            <a:endParaRPr kumimoji="1" lang="en-US" altLang="zh-CN" dirty="0"/>
          </a:p>
          <a:p>
            <a:r>
              <a:rPr kumimoji="1" lang="zh-CN" altLang="en-US" dirty="0"/>
              <a:t>记录这次出问题的点和原因，今后每次测试都需注意</a:t>
            </a:r>
            <a:endParaRPr kumimoji="1"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47ADAC-F727-DF42-84A1-53F383BC088E}" type="slidenum">
              <a:rPr kumimoji="1" lang="zh-CN" altLang="en-US" smtClean="0"/>
              <a:t>13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08548636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21524CA-1CA2-6E47-BDBB-0F69D48743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209FAD80-94EC-4C4F-A71E-8A082E80E6B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B2AB2B5-BF7F-DD47-BFB1-CD42A3E6BA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9C2B9-325A-9B4F-9553-DD502A202BFE}" type="datetimeFigureOut">
              <a:rPr kumimoji="1" lang="zh-CN" altLang="en-US" smtClean="0"/>
              <a:t>2021/8/16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82F62D0-E5C3-D646-B615-D2C8239C82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A54761F-669F-B848-BBBA-84EAC1721D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5D7191-1194-594D-8513-00080DD735E9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661436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F071445-34D5-2C44-B76B-6E01A24EB5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F034ABC-1ECF-824D-88ED-F94C7C6184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B95EAC4-4E64-C440-A507-8C80832E49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9C2B9-325A-9B4F-9553-DD502A202BFE}" type="datetimeFigureOut">
              <a:rPr kumimoji="1" lang="zh-CN" altLang="en-US" smtClean="0"/>
              <a:t>2021/8/16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FA32C8B-E494-9A4E-AB7F-BBFF087445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C8B6359-2DD9-EC4B-ACAB-CED4573DE5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5D7191-1194-594D-8513-00080DD735E9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0842434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9EFE064-039C-AF48-982A-555AD39A80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D4B8AF8-4D4F-734B-9FEC-CC3E58EC6D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9A7BEF8-C2A7-C84A-86E7-986A42E95F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9C2B9-325A-9B4F-9553-DD502A202BFE}" type="datetimeFigureOut">
              <a:rPr kumimoji="1" lang="zh-CN" altLang="en-US" smtClean="0"/>
              <a:t>2021/8/16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2A1214C-EF54-6E41-B3E7-CBA5F631DF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A5A61E0-4C9E-6746-AB44-67E78613FB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5D7191-1194-594D-8513-00080DD735E9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0375106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45FB0DD-2E32-684C-A719-70A160B791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4F4CC0C-550B-0245-A644-B70E2124B6A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501C8E71-FAC0-FD4B-8157-8F1FF77052B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5B2A359-BC0C-0645-AC50-044C0DBB8E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9C2B9-325A-9B4F-9553-DD502A202BFE}" type="datetimeFigureOut">
              <a:rPr kumimoji="1" lang="zh-CN" altLang="en-US" smtClean="0"/>
              <a:t>2021/8/16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79C0BAEA-39C3-F043-96A3-92FF581A89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D9DBA2B6-6D60-8F4C-82C5-0751E15B3A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5D7191-1194-594D-8513-00080DD735E9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9177779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A22F8D4-A5B7-4A41-A10C-274D4F7C57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2C980AB-90AF-DC40-8E3A-4267DE8DB0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8A3F519-559E-7E49-BB19-8863717FF2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CC759DBA-02B0-794D-B8F9-67CE26971E9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69814663-01F3-6548-9CC0-562A3132878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36C062BF-1124-B546-9C38-248E4ECEDF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9C2B9-325A-9B4F-9553-DD502A202BFE}" type="datetimeFigureOut">
              <a:rPr kumimoji="1" lang="zh-CN" altLang="en-US" smtClean="0"/>
              <a:t>2021/8/16</a:t>
            </a:fld>
            <a:endParaRPr kumimoji="1"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036BD857-95FC-3A43-AD00-4423287B83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2239357A-1C84-C041-A9E6-73B9D449EF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5D7191-1194-594D-8513-00080DD735E9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6393520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C3A1D67-6ABB-6B4C-B7BC-41CB2E7F32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985F06CC-E7C4-4744-BB58-29356EE729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9C2B9-325A-9B4F-9553-DD502A202BFE}" type="datetimeFigureOut">
              <a:rPr kumimoji="1" lang="zh-CN" altLang="en-US" smtClean="0"/>
              <a:t>2021/8/16</a:t>
            </a:fld>
            <a:endParaRPr kumimoji="1"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067593D3-94EA-C149-B221-A7F4B1BC3D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7217457D-87E9-BA4F-8D58-9149EA7BD0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5D7191-1194-594D-8513-00080DD735E9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5452969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227E6CED-A870-CA4C-B223-E9E88FA4B5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9C2B9-325A-9B4F-9553-DD502A202BFE}" type="datetimeFigureOut">
              <a:rPr kumimoji="1" lang="zh-CN" altLang="en-US" smtClean="0"/>
              <a:t>2021/8/16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380718C4-9EF3-E84B-8FBD-50D008BDE9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6DB92202-E832-C242-BFDB-2B73D7D1E9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5D7191-1194-594D-8513-00080DD735E9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7790527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FB62FAB-5A60-984B-A66C-7AD1155B90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68D5B50-99B6-8A40-B356-D56EFAE80E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99B526C9-5140-E14D-B388-3150A270CAB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5D4C243-F310-1D48-AA22-CE63A89E24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9C2B9-325A-9B4F-9553-DD502A202BFE}" type="datetimeFigureOut">
              <a:rPr kumimoji="1" lang="zh-CN" altLang="en-US" smtClean="0"/>
              <a:t>2021/8/16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E7B3874-CDFF-054B-BA81-D2219AD9A6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1F2A6BCB-4580-4341-8D9D-C6FDBA8B9C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5D7191-1194-594D-8513-00080DD735E9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0484020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82B7A22-2101-4244-9010-8A9BF10E99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2FDCFC4F-8937-184B-8EC5-CC10B94D45B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2BEBFCDE-B26C-3847-A1AF-CDCF00FF36C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9D791BF0-AE10-194F-ABC7-2AA622BE90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9C2B9-325A-9B4F-9553-DD502A202BFE}" type="datetimeFigureOut">
              <a:rPr kumimoji="1" lang="zh-CN" altLang="en-US" smtClean="0"/>
              <a:t>2021/8/16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E46EC02F-A2A4-F949-AD91-0766189356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FFD64FB-349C-3544-B439-AC91A060BA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5D7191-1194-594D-8513-00080DD735E9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6022635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685404D-0CB8-A547-9A49-A7AE9ACE2E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6253C582-6A3D-8C4B-AC1A-F01DA2920D6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47751AC-1D9F-1641-9D6A-9FB461C905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9C2B9-325A-9B4F-9553-DD502A202BFE}" type="datetimeFigureOut">
              <a:rPr kumimoji="1" lang="zh-CN" altLang="en-US" smtClean="0"/>
              <a:t>2021/8/16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1335669-72E6-5043-8762-EA7E572292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2511499-05A1-D84F-A3ED-8DE348DF12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5D7191-1194-594D-8513-00080DD735E9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2316752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25861846-C927-3241-9675-16C474A24D0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43E6B805-73ED-1545-AF98-613CBC6C7C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0F0723F-AAFE-234D-BB72-3C06ECC165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9C2B9-325A-9B4F-9553-DD502A202BFE}" type="datetimeFigureOut">
              <a:rPr kumimoji="1" lang="zh-CN" altLang="en-US" smtClean="0"/>
              <a:t>2021/8/16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F6DD50D-2447-1149-80A1-44CC4DF87C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4C7DB9D-66F6-0347-8232-49FBAA5F88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5D7191-1194-594D-8513-00080DD735E9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9023766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25CC824B-DA4A-E847-A466-6BB6DAA0AC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DE1F4576-00F9-3445-9CC8-C2C6EE15E7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F6DE9E2-D5C4-9C4C-859D-EDB1491CA8D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99C2B9-325A-9B4F-9553-DD502A202BFE}" type="datetimeFigureOut">
              <a:rPr kumimoji="1" lang="zh-CN" altLang="en-US" smtClean="0"/>
              <a:t>2021/8/16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E97E390-DDD1-2849-80DF-56C5470D0CE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20F72E3-B9BD-5D4C-9310-77210BE6025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F5D7191-1194-594D-8513-00080DD735E9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5102511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.jpe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en-US" altLang="zh-CN" dirty="0"/>
              <a:t>D99</a:t>
            </a:r>
            <a:r>
              <a:rPr kumimoji="1" lang="zh-CN" altLang="en-US" dirty="0"/>
              <a:t>星性能测试回顾与</a:t>
            </a:r>
            <a:br>
              <a:rPr kumimoji="1" lang="en-US" altLang="zh-CN" dirty="0"/>
            </a:br>
            <a:r>
              <a:rPr kumimoji="1" lang="zh-CN" altLang="en-US" dirty="0"/>
              <a:t>心得分享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92A83C6D-CF19-CD4A-B971-56DD11E2CE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kumimoji="1" lang="zh-CN" altLang="en-US" sz="5400"/>
              <a:t>测试背景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内容占位符 2">
            <a:extLst>
              <a:ext uri="{FF2B5EF4-FFF2-40B4-BE49-F238E27FC236}">
                <a16:creationId xmlns:a16="http://schemas.microsoft.com/office/drawing/2014/main" id="{552126EF-054D-784C-A4EE-8B372121E0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r>
              <a:rPr kumimoji="1" lang="zh-CN" altLang="zh-CN" sz="2200"/>
              <a:t>什么是</a:t>
            </a:r>
            <a:r>
              <a:rPr kumimoji="1" lang="en-US" altLang="zh-CN" sz="2200"/>
              <a:t>D99</a:t>
            </a:r>
            <a:r>
              <a:rPr kumimoji="1" lang="zh-CN" altLang="zh-CN" sz="2200"/>
              <a:t>星</a:t>
            </a:r>
            <a:r>
              <a:rPr kumimoji="1" lang="en-US" altLang="zh-CN" sz="2200"/>
              <a:t>?</a:t>
            </a:r>
          </a:p>
          <a:p>
            <a:pPr lvl="1"/>
            <a:r>
              <a:rPr kumimoji="1" lang="en-US" altLang="zh-CN" sz="2200"/>
              <a:t>D99</a:t>
            </a:r>
            <a:r>
              <a:rPr kumimoji="1" lang="zh-CN" altLang="zh-CN" sz="2200"/>
              <a:t>星是一款服务于灌篮高手的助手类</a:t>
            </a:r>
            <a:r>
              <a:rPr kumimoji="1" lang="en-US" altLang="zh-CN" sz="2200"/>
              <a:t>app</a:t>
            </a:r>
            <a:r>
              <a:rPr kumimoji="1" lang="zh-CN" altLang="zh-CN" sz="2200"/>
              <a:t>，为玩家提供游戏的战绩查询、新闻推送、社区内容聚合等服务。</a:t>
            </a:r>
            <a:endParaRPr lang="en-US" altLang="zh-CN" sz="2200"/>
          </a:p>
          <a:p>
            <a:r>
              <a:rPr kumimoji="1" lang="zh-CN" altLang="zh-CN" sz="2200"/>
              <a:t>压测准备阶段</a:t>
            </a:r>
            <a:endParaRPr lang="en-US" altLang="zh-CN" sz="2200"/>
          </a:p>
          <a:p>
            <a:pPr lvl="1"/>
            <a:r>
              <a:rPr kumimoji="1" lang="zh-CN" altLang="zh-CN" sz="2200"/>
              <a:t>了解产品背景，性能需求，梳理链路，获取测试时间窗口。</a:t>
            </a:r>
            <a:endParaRPr lang="en-US" altLang="zh-CN" sz="2200"/>
          </a:p>
          <a:p>
            <a:pPr lvl="1"/>
            <a:r>
              <a:rPr kumimoji="1" lang="zh-CN" altLang="zh-CN" sz="2200"/>
              <a:t>提出关于数据来源、测试环境、业务逻辑等疑问。</a:t>
            </a:r>
            <a:endParaRPr lang="en-US" altLang="zh-CN" sz="2200"/>
          </a:p>
          <a:p>
            <a:pPr lvl="1"/>
            <a:r>
              <a:rPr kumimoji="1" lang="zh-CN" altLang="zh-CN" sz="2200"/>
              <a:t>产生问题：需要尽快梳理接口目录</a:t>
            </a:r>
            <a:endParaRPr lang="en-US" altLang="zh-CN" sz="2200"/>
          </a:p>
          <a:p>
            <a:pPr lvl="1"/>
            <a:endParaRPr lang="en-US" altLang="zh-CN" sz="2200"/>
          </a:p>
          <a:p>
            <a:pPr lvl="1"/>
            <a:endParaRPr kumimoji="1" lang="zh-CN" altLang="en-US" sz="2200"/>
          </a:p>
        </p:txBody>
      </p:sp>
    </p:spTree>
    <p:extLst>
      <p:ext uri="{BB962C8B-B14F-4D97-AF65-F5344CB8AC3E}">
        <p14:creationId xmlns:p14="http://schemas.microsoft.com/office/powerpoint/2010/main" val="5232642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7">
            <a:extLst>
              <a:ext uri="{FF2B5EF4-FFF2-40B4-BE49-F238E27FC236}">
                <a16:creationId xmlns:a16="http://schemas.microsoft.com/office/drawing/2014/main" id="{DAF1966E-FD40-4A4A-B61B-C4DF7FA05F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5" name="Rectangle 9">
            <a:extLst>
              <a:ext uri="{FF2B5EF4-FFF2-40B4-BE49-F238E27FC236}">
                <a16:creationId xmlns:a16="http://schemas.microsoft.com/office/drawing/2014/main" id="{047BFA19-D45E-416B-A404-7AF2F3F270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rgbClr val="E1E1E1"/>
            </a:solidFill>
          </a:ln>
          <a:effectLst>
            <a:outerShdw blurRad="50800" dist="38100" dir="2700000" algn="t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8E0105E7-23DB-4CF2-8258-FF47C7620F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A886AABA-8028-9E49-BA62-0069BA42D5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/>
          <a:p>
            <a:r>
              <a:rPr kumimoji="1" lang="zh-CN" altLang="en-US" sz="4000"/>
              <a:t>调研结果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74B4F7D-14B2-478B-8BF5-01E4E0C5D2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8834" y="758952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903D9C7-BA7B-904C-BC33-AF6B355DBA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5568" y="2481943"/>
            <a:ext cx="10168128" cy="3695020"/>
          </a:xfrm>
        </p:spPr>
        <p:txBody>
          <a:bodyPr>
            <a:normAutofit/>
          </a:bodyPr>
          <a:lstStyle/>
          <a:p>
            <a:r>
              <a:rPr kumimoji="1" lang="zh-CN" altLang="zh-CN" sz="2200"/>
              <a:t>接口梳理方案</a:t>
            </a:r>
            <a:endParaRPr kumimoji="1" lang="en-US" altLang="zh-CN" sz="2200"/>
          </a:p>
          <a:p>
            <a:pPr lvl="1"/>
            <a:r>
              <a:rPr kumimoji="1" lang="zh-CN" altLang="zh-CN" sz="2200"/>
              <a:t>通过抓包，整理用户角度触发路径较短的接口，并与开发方核对。</a:t>
            </a:r>
            <a:endParaRPr lang="en-US" altLang="zh-CN" sz="2200"/>
          </a:p>
          <a:p>
            <a:pPr lvl="1"/>
            <a:r>
              <a:rPr kumimoji="1" lang="zh-CN" altLang="zh-CN" sz="2200"/>
              <a:t>梳理结果：抓包准确性不理想。</a:t>
            </a:r>
            <a:endParaRPr kumimoji="1" lang="en-US" altLang="zh-CN" sz="2200"/>
          </a:p>
          <a:p>
            <a:pPr lvl="1"/>
            <a:endParaRPr kumimoji="1" lang="en-US" altLang="zh-CN" sz="2200"/>
          </a:p>
          <a:p>
            <a:r>
              <a:rPr kumimoji="1" lang="zh-CN" altLang="zh-CN" sz="2200"/>
              <a:t>定位原因</a:t>
            </a:r>
            <a:endParaRPr lang="en-US" altLang="zh-CN" sz="2200"/>
          </a:p>
          <a:p>
            <a:pPr lvl="1"/>
            <a:r>
              <a:rPr kumimoji="1" lang="zh-CN" altLang="zh-CN" sz="2200"/>
              <a:t>原因</a:t>
            </a:r>
            <a:r>
              <a:rPr kumimoji="1" lang="en-US" altLang="zh-CN" sz="2200"/>
              <a:t>:</a:t>
            </a:r>
            <a:r>
              <a:rPr kumimoji="1" lang="zh-CN" altLang="zh-CN" sz="2200"/>
              <a:t>  </a:t>
            </a:r>
            <a:r>
              <a:rPr kumimoji="1" lang="en-US" altLang="zh-CN" sz="2200"/>
              <a:t>app</a:t>
            </a:r>
            <a:r>
              <a:rPr kumimoji="1" lang="zh-CN" altLang="zh-CN" sz="2200"/>
              <a:t>做过防代理抓包处理，没有暴露的接口可被抓取</a:t>
            </a:r>
            <a:endParaRPr kumimoji="1" lang="zh-CN" altLang="en-US" sz="2200"/>
          </a:p>
          <a:p>
            <a:pPr lvl="1"/>
            <a:endParaRPr lang="en-US" altLang="zh-CN" sz="2200"/>
          </a:p>
          <a:p>
            <a:pPr lvl="1"/>
            <a:endParaRPr lang="en-US" altLang="zh-CN" sz="2200"/>
          </a:p>
          <a:p>
            <a:endParaRPr kumimoji="1" lang="zh-CN" altLang="en-US" sz="2200"/>
          </a:p>
        </p:txBody>
      </p:sp>
    </p:spTree>
    <p:extLst>
      <p:ext uri="{BB962C8B-B14F-4D97-AF65-F5344CB8AC3E}">
        <p14:creationId xmlns:p14="http://schemas.microsoft.com/office/powerpoint/2010/main" val="31444452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812178"/>
            <a:ext cx="10515600" cy="5353843"/>
          </a:xfrm>
        </p:spPr>
        <p:txBody>
          <a:bodyPr>
            <a:normAutofit/>
          </a:bodyPr>
          <a:lstStyle/>
          <a:p>
            <a:r>
              <a:rPr kumimoji="1" lang="zh-CN" altLang="en-US" dirty="0"/>
              <a:t>业务调整</a:t>
            </a:r>
            <a:endParaRPr kumimoji="1" lang="en-US" altLang="zh-CN" dirty="0"/>
          </a:p>
          <a:p>
            <a:endParaRPr kumimoji="1" lang="en-US" altLang="zh-CN" dirty="0"/>
          </a:p>
          <a:p>
            <a:pPr lvl="1"/>
            <a:r>
              <a:rPr kumimoji="1" lang="zh-CN" altLang="en-US" dirty="0"/>
              <a:t>原有数据获取方式：</a:t>
            </a:r>
            <a:endParaRPr kumimoji="1" lang="en-US" altLang="zh-CN" dirty="0"/>
          </a:p>
          <a:p>
            <a:pPr lvl="1"/>
            <a:endParaRPr kumimoji="1" lang="en-US" altLang="zh-CN" dirty="0"/>
          </a:p>
          <a:p>
            <a:pPr lvl="1"/>
            <a:endParaRPr kumimoji="1" lang="en-US" altLang="zh-CN" dirty="0"/>
          </a:p>
          <a:p>
            <a:pPr lvl="1"/>
            <a:endParaRPr kumimoji="1" lang="en-US" altLang="zh-CN" dirty="0"/>
          </a:p>
          <a:p>
            <a:pPr lvl="1"/>
            <a:endParaRPr kumimoji="1" lang="en-US" altLang="zh-CN" dirty="0"/>
          </a:p>
          <a:p>
            <a:pPr lvl="1"/>
            <a:r>
              <a:rPr kumimoji="1" lang="zh-CN" altLang="en-US" dirty="0"/>
              <a:t>识别风险：第三方应用直接请求游戏正服获取线上数据，对生产环境的稳定性以及数据安全性有极大隐患。</a:t>
            </a:r>
            <a:endParaRPr kumimoji="1" lang="en-US" altLang="zh-CN" dirty="0"/>
          </a:p>
          <a:p>
            <a:pPr lvl="1"/>
            <a:endParaRPr kumimoji="1" lang="en-US" altLang="zh-CN" dirty="0"/>
          </a:p>
          <a:p>
            <a:pPr lvl="1"/>
            <a:r>
              <a:rPr kumimoji="1" lang="zh-CN" altLang="en-US" dirty="0"/>
              <a:t>业务改动点：</a:t>
            </a:r>
            <a:r>
              <a:rPr kumimoji="1" lang="en-US" altLang="zh-CN" dirty="0"/>
              <a:t>d99</a:t>
            </a:r>
            <a:r>
              <a:rPr kumimoji="1" lang="zh-CN" altLang="en-US" dirty="0"/>
              <a:t>需要的数据统一通过</a:t>
            </a:r>
            <a:r>
              <a:rPr kumimoji="1" lang="en-US" altLang="zh-CN" dirty="0"/>
              <a:t>DMP</a:t>
            </a:r>
            <a:r>
              <a:rPr kumimoji="1" lang="zh-CN" altLang="en-US" dirty="0"/>
              <a:t>专用接口查询获取。</a:t>
            </a:r>
            <a:endParaRPr kumimoji="1" lang="en-US" altLang="zh-CN" dirty="0"/>
          </a:p>
          <a:p>
            <a:pPr lvl="1"/>
            <a:endParaRPr kumimoji="1" lang="en-US" altLang="zh-CN" dirty="0"/>
          </a:p>
          <a:p>
            <a:pPr lvl="1"/>
            <a:endParaRPr kumimoji="1" lang="en-US" altLang="zh-CN" dirty="0"/>
          </a:p>
          <a:p>
            <a:pPr lvl="1"/>
            <a:endParaRPr kumimoji="1" lang="en-US" altLang="zh-CN" dirty="0"/>
          </a:p>
          <a:p>
            <a:pPr lvl="1"/>
            <a:endParaRPr kumimoji="1" lang="en-US" altLang="zh-CN" dirty="0"/>
          </a:p>
          <a:p>
            <a:pPr lvl="1"/>
            <a:endParaRPr kumimoji="1" lang="en-US" altLang="zh-CN" dirty="0"/>
          </a:p>
          <a:p>
            <a:pPr lvl="1"/>
            <a:endParaRPr kumimoji="1" lang="en-US" altLang="zh-CN" dirty="0"/>
          </a:p>
          <a:p>
            <a:pPr lvl="1"/>
            <a:endParaRPr kumimoji="1" lang="en-US" altLang="zh-CN" dirty="0"/>
          </a:p>
          <a:p>
            <a:pPr lvl="1"/>
            <a:endParaRPr kumimoji="1" lang="en-US" altLang="zh-CN" dirty="0"/>
          </a:p>
        </p:txBody>
      </p:sp>
      <p:sp>
        <p:nvSpPr>
          <p:cNvPr id="4" name="圆角矩形 3"/>
          <p:cNvSpPr/>
          <p:nvPr/>
        </p:nvSpPr>
        <p:spPr>
          <a:xfrm>
            <a:off x="4940642" y="1649628"/>
            <a:ext cx="902043" cy="46955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game</a:t>
            </a:r>
            <a:endParaRPr kumimoji="1" lang="zh-CN" altLang="en-US" dirty="0"/>
          </a:p>
        </p:txBody>
      </p:sp>
      <p:sp>
        <p:nvSpPr>
          <p:cNvPr id="5" name="圆角矩形 4"/>
          <p:cNvSpPr/>
          <p:nvPr/>
        </p:nvSpPr>
        <p:spPr>
          <a:xfrm>
            <a:off x="4765590" y="2934730"/>
            <a:ext cx="889686" cy="49427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d99</a:t>
            </a:r>
            <a:endParaRPr kumimoji="1" lang="zh-CN" altLang="en-US" dirty="0"/>
          </a:p>
        </p:txBody>
      </p:sp>
      <p:sp>
        <p:nvSpPr>
          <p:cNvPr id="6" name="圆角矩形 5"/>
          <p:cNvSpPr/>
          <p:nvPr/>
        </p:nvSpPr>
        <p:spPr>
          <a:xfrm>
            <a:off x="6956852" y="1649628"/>
            <a:ext cx="1025611" cy="55605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 err="1"/>
              <a:t>dmp</a:t>
            </a:r>
            <a:endParaRPr kumimoji="1" lang="zh-CN" altLang="en-US" dirty="0"/>
          </a:p>
        </p:txBody>
      </p:sp>
      <p:sp>
        <p:nvSpPr>
          <p:cNvPr id="7" name="圆角矩形 6"/>
          <p:cNvSpPr/>
          <p:nvPr/>
        </p:nvSpPr>
        <p:spPr>
          <a:xfrm>
            <a:off x="6956852" y="2835876"/>
            <a:ext cx="1025611" cy="59312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player</a:t>
            </a:r>
            <a:endParaRPr kumimoji="1" lang="zh-CN" altLang="en-US" dirty="0"/>
          </a:p>
        </p:txBody>
      </p:sp>
      <p:cxnSp>
        <p:nvCxnSpPr>
          <p:cNvPr id="9" name="直线箭头连接符 8"/>
          <p:cNvCxnSpPr/>
          <p:nvPr/>
        </p:nvCxnSpPr>
        <p:spPr>
          <a:xfrm flipV="1">
            <a:off x="5090983" y="2205682"/>
            <a:ext cx="119450" cy="63019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线箭头连接符 9"/>
          <p:cNvCxnSpPr/>
          <p:nvPr/>
        </p:nvCxnSpPr>
        <p:spPr>
          <a:xfrm>
            <a:off x="6033698" y="1964725"/>
            <a:ext cx="853647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线箭头连接符 12"/>
          <p:cNvCxnSpPr/>
          <p:nvPr/>
        </p:nvCxnSpPr>
        <p:spPr>
          <a:xfrm flipH="1">
            <a:off x="5972945" y="1736125"/>
            <a:ext cx="85364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线箭头连接符 16"/>
          <p:cNvCxnSpPr/>
          <p:nvPr/>
        </p:nvCxnSpPr>
        <p:spPr>
          <a:xfrm flipH="1">
            <a:off x="5391663" y="2271670"/>
            <a:ext cx="154458" cy="55502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线箭头连接符 18"/>
          <p:cNvCxnSpPr/>
          <p:nvPr/>
        </p:nvCxnSpPr>
        <p:spPr>
          <a:xfrm>
            <a:off x="5879240" y="3125273"/>
            <a:ext cx="853647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2B566528-1B12-4246-9431-5C2D7D0811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17927EDC-A0B7-D045-8340-C426E4224D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3467" y="321734"/>
            <a:ext cx="10905066" cy="1135737"/>
          </a:xfrm>
        </p:spPr>
        <p:txBody>
          <a:bodyPr>
            <a:normAutofit/>
          </a:bodyPr>
          <a:lstStyle/>
          <a:p>
            <a:r>
              <a:rPr kumimoji="1" lang="zh-CN" altLang="en-US" sz="3600"/>
              <a:t>首次提测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A8FF59D-B791-EE4E-96BD-430639C7AD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3467" y="1782981"/>
            <a:ext cx="10905066" cy="4393982"/>
          </a:xfrm>
        </p:spPr>
        <p:txBody>
          <a:bodyPr>
            <a:normAutofit/>
          </a:bodyPr>
          <a:lstStyle/>
          <a:p>
            <a:r>
              <a:rPr kumimoji="1" lang="zh-CN" altLang="en-US" sz="2000"/>
              <a:t>梳理</a:t>
            </a:r>
            <a:r>
              <a:rPr kumimoji="1" lang="en-US" altLang="zh-CN" sz="2000"/>
              <a:t>API</a:t>
            </a:r>
            <a:r>
              <a:rPr kumimoji="1" lang="zh-CN" altLang="en-US" sz="2000"/>
              <a:t>调用逻辑：文档描述</a:t>
            </a:r>
            <a:r>
              <a:rPr kumimoji="1" lang="en-US" altLang="zh-CN" sz="2000"/>
              <a:t>+app</a:t>
            </a:r>
            <a:r>
              <a:rPr kumimoji="1" lang="zh-CN" altLang="en-US" sz="2000"/>
              <a:t>黑盒对照</a:t>
            </a:r>
            <a:endParaRPr kumimoji="1" lang="en-US" altLang="zh-CN" sz="2000"/>
          </a:p>
          <a:p>
            <a:pPr lvl="1"/>
            <a:endParaRPr kumimoji="1" lang="en-US" altLang="zh-CN" sz="2000"/>
          </a:p>
          <a:p>
            <a:r>
              <a:rPr kumimoji="1" lang="zh-CN" altLang="en-US" sz="2000"/>
              <a:t>圈画压测接口范围：用户操作路径短、使用频繁、产生高并发请求几率高的接口</a:t>
            </a:r>
            <a:endParaRPr kumimoji="1" lang="en-US" altLang="zh-CN" sz="2000"/>
          </a:p>
          <a:p>
            <a:pPr lvl="1"/>
            <a:endParaRPr kumimoji="1" lang="en-US" altLang="zh-CN" sz="2000"/>
          </a:p>
          <a:p>
            <a:r>
              <a:rPr kumimoji="1" lang="zh-CN" altLang="en-US" sz="2000"/>
              <a:t>制定压测目标：单接口</a:t>
            </a:r>
            <a:r>
              <a:rPr kumimoji="1" lang="en-US" altLang="zh-CN" sz="2000"/>
              <a:t>QPS</a:t>
            </a:r>
            <a:r>
              <a:rPr kumimoji="1" lang="zh-CN" altLang="en-US" sz="2000"/>
              <a:t>：</a:t>
            </a:r>
            <a:r>
              <a:rPr kumimoji="1" lang="en-US" altLang="zh-CN" sz="2000"/>
              <a:t>50</a:t>
            </a:r>
            <a:r>
              <a:rPr kumimoji="1" lang="zh-CN" altLang="en-US" sz="2000"/>
              <a:t>（上线后将限量邀请方式开放使用）</a:t>
            </a:r>
          </a:p>
          <a:p>
            <a:pPr lvl="1"/>
            <a:endParaRPr kumimoji="1" lang="zh-CN" altLang="en-US" sz="2000"/>
          </a:p>
          <a:p>
            <a:r>
              <a:rPr kumimoji="1" lang="zh-CN" altLang="en-US" sz="2000"/>
              <a:t>搭建可视化监控服务，设计并评审测试脚本，协同运维人员搭建压测环境。</a:t>
            </a:r>
            <a:endParaRPr kumimoji="1" lang="en-US" altLang="zh-CN" sz="200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E80C965-DB6D-4F81-9E9E-B027384D0B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11052629" y="2120024"/>
            <a:ext cx="645368" cy="645368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Isosceles Triangle 11">
            <a:extLst>
              <a:ext uri="{FF2B5EF4-FFF2-40B4-BE49-F238E27FC236}">
                <a16:creationId xmlns:a16="http://schemas.microsoft.com/office/drawing/2014/main" id="{A580F890-B085-4E95-96AA-55AEBEC5CE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10289068" y="1343027"/>
            <a:ext cx="2532832" cy="1273032"/>
          </a:xfrm>
          <a:prstGeom prst="triangle">
            <a:avLst>
              <a:gd name="adj" fmla="val 50000"/>
            </a:avLst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Isosceles Triangle 13">
            <a:extLst>
              <a:ext uri="{FF2B5EF4-FFF2-40B4-BE49-F238E27FC236}">
                <a16:creationId xmlns:a16="http://schemas.microsoft.com/office/drawing/2014/main" id="{D3F51FEB-38FB-4F6C-9F7B-2F2AFAB654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501760" y="5103257"/>
            <a:ext cx="2017580" cy="1014060"/>
          </a:xfrm>
          <a:prstGeom prst="triangle">
            <a:avLst>
              <a:gd name="adj" fmla="val 50000"/>
            </a:avLst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E547BA6-BAE0-43BB-A7CA-60F69CE252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427916" y="5728708"/>
            <a:ext cx="485578" cy="485578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31643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Rectangle 27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914400"/>
            <a:ext cx="5111496" cy="109728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 sz="4400" dirty="0"/>
              <a:t>首轮压测结果</a:t>
            </a:r>
          </a:p>
        </p:txBody>
      </p:sp>
      <p:pic>
        <p:nvPicPr>
          <p:cNvPr id="5" name="内容占位符 4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7858899" y="1277577"/>
            <a:ext cx="3862838" cy="1852181"/>
          </a:xfrm>
          <a:custGeom>
            <a:avLst/>
            <a:gdLst/>
            <a:ahLst/>
            <a:cxnLst/>
            <a:rect l="l" t="t" r="r" b="b"/>
            <a:pathLst>
              <a:path w="4926150" h="2331720">
                <a:moveTo>
                  <a:pt x="0" y="0"/>
                </a:moveTo>
                <a:lnTo>
                  <a:pt x="4926150" y="0"/>
                </a:lnTo>
                <a:lnTo>
                  <a:pt x="4926150" y="2331720"/>
                </a:lnTo>
                <a:lnTo>
                  <a:pt x="0" y="2331720"/>
                </a:lnTo>
                <a:close/>
              </a:path>
            </a:pathLst>
          </a:custGeom>
        </p:spPr>
      </p:pic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8200" y="2331720"/>
            <a:ext cx="4379976" cy="3547872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285750" indent="-228600">
              <a:buFont typeface="Arial" panose="020B0604020202020204" pitchFamily="34" charset="0"/>
              <a:buChar char="•"/>
            </a:pPr>
            <a:r>
              <a:rPr kumimoji="1" lang="zh-CN" altLang="en-US" sz="1900" dirty="0"/>
              <a:t>接口响应时间普遍较长</a:t>
            </a:r>
            <a:endParaRPr kumimoji="1" lang="en-US" altLang="zh-CN" sz="1900" dirty="0"/>
          </a:p>
          <a:p>
            <a:pPr marL="285750" indent="-228600">
              <a:buFont typeface="Arial" panose="020B0604020202020204" pitchFamily="34" charset="0"/>
              <a:buChar char="•"/>
            </a:pPr>
            <a:endParaRPr kumimoji="1" lang="en-US" altLang="zh-CN" sz="1900" dirty="0"/>
          </a:p>
          <a:p>
            <a:pPr marL="285750" indent="-228600">
              <a:buFont typeface="Arial" panose="020B0604020202020204" pitchFamily="34" charset="0"/>
              <a:buChar char="•"/>
            </a:pPr>
            <a:r>
              <a:rPr kumimoji="1" lang="zh-CN" altLang="en-US" sz="1900" dirty="0"/>
              <a:t>部分接口功能不完善，有报错</a:t>
            </a:r>
            <a:endParaRPr kumimoji="1" lang="en-US" altLang="zh-CN" sz="1900" dirty="0"/>
          </a:p>
          <a:p>
            <a:pPr marL="285750" indent="-228600">
              <a:buFont typeface="Arial" panose="020B0604020202020204" pitchFamily="34" charset="0"/>
              <a:buChar char="•"/>
            </a:pPr>
            <a:endParaRPr kumimoji="1" lang="en-US" altLang="zh-CN" sz="1900" dirty="0"/>
          </a:p>
          <a:p>
            <a:pPr marL="285750" indent="-228600">
              <a:buFont typeface="Arial" panose="020B0604020202020204" pitchFamily="34" charset="0"/>
              <a:buChar char="•"/>
            </a:pPr>
            <a:r>
              <a:rPr kumimoji="1" lang="en-US" altLang="zh-CN" sz="1900" dirty="0" err="1"/>
              <a:t>Sql</a:t>
            </a:r>
            <a:r>
              <a:rPr kumimoji="1" lang="zh-CN" altLang="en-US" sz="1900" dirty="0"/>
              <a:t>逻辑部分优化空间大，有些接口对</a:t>
            </a:r>
            <a:r>
              <a:rPr kumimoji="1" lang="en-US" altLang="zh-CN" sz="1900" dirty="0"/>
              <a:t>DB</a:t>
            </a:r>
            <a:r>
              <a:rPr kumimoji="1" lang="zh-CN" altLang="en-US" sz="1900" dirty="0"/>
              <a:t>造成巨大压力</a:t>
            </a:r>
            <a:endParaRPr kumimoji="1" lang="en-US" altLang="zh-CN" sz="1900" dirty="0"/>
          </a:p>
          <a:p>
            <a:pPr marL="285750" indent="-228600">
              <a:buFont typeface="Arial" panose="020B0604020202020204" pitchFamily="34" charset="0"/>
              <a:buChar char="•"/>
            </a:pPr>
            <a:endParaRPr kumimoji="1" lang="en-US" altLang="zh-CN" sz="1900" dirty="0"/>
          </a:p>
          <a:p>
            <a:pPr marL="285750" indent="-228600">
              <a:buFont typeface="Arial" panose="020B0604020202020204" pitchFamily="34" charset="0"/>
              <a:buChar char="•"/>
            </a:pPr>
            <a:r>
              <a:rPr kumimoji="1" lang="zh-CN" altLang="en-US" sz="1900" dirty="0"/>
              <a:t>将有性能问题的接口汇总给研发进行优化，等待优化后再次测试，本轮结束</a:t>
            </a:r>
            <a:endParaRPr kumimoji="1" lang="en-US" altLang="zh-CN" sz="1900" dirty="0"/>
          </a:p>
          <a:p>
            <a:pPr marL="285750" indent="-228600">
              <a:buFont typeface="Arial" panose="020B0604020202020204" pitchFamily="34" charset="0"/>
              <a:buChar char="•"/>
            </a:pPr>
            <a:endParaRPr kumimoji="1" lang="en-US" altLang="zh-CN" sz="1900" dirty="0"/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8799" y="3719172"/>
            <a:ext cx="4812938" cy="2093628"/>
          </a:xfrm>
          <a:custGeom>
            <a:avLst/>
            <a:gdLst/>
            <a:ahLst/>
            <a:cxnLst/>
            <a:rect l="l" t="t" r="r" b="b"/>
            <a:pathLst>
              <a:path w="3976051" h="2331947">
                <a:moveTo>
                  <a:pt x="0" y="0"/>
                </a:moveTo>
                <a:lnTo>
                  <a:pt x="3976051" y="0"/>
                </a:lnTo>
                <a:lnTo>
                  <a:pt x="3976051" y="2331947"/>
                </a:lnTo>
                <a:lnTo>
                  <a:pt x="0" y="2331947"/>
                </a:lnTo>
                <a:close/>
              </a:path>
            </a:pathLst>
          </a:cu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8">
            <a:extLst>
              <a:ext uri="{FF2B5EF4-FFF2-40B4-BE49-F238E27FC236}">
                <a16:creationId xmlns:a16="http://schemas.microsoft.com/office/drawing/2014/main" id="{46D6306C-ED4F-4AAE-B4A5-EEA6AFAD72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46473D63-5865-1946-88C6-B023BD88BC79}"/>
              </a:ext>
            </a:extLst>
          </p:cNvPr>
          <p:cNvSpPr txBox="1"/>
          <p:nvPr/>
        </p:nvSpPr>
        <p:spPr>
          <a:xfrm>
            <a:off x="643467" y="1698171"/>
            <a:ext cx="3962061" cy="451636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kumimoji="1" lang="zh-CN" altLang="en-US" sz="3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下轮压测目标</a:t>
            </a:r>
            <a:endParaRPr kumimoji="1" lang="en-US" altLang="zh-CN" sz="3600" kern="120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22" name="Rectangle 10">
            <a:extLst>
              <a:ext uri="{FF2B5EF4-FFF2-40B4-BE49-F238E27FC236}">
                <a16:creationId xmlns:a16="http://schemas.microsoft.com/office/drawing/2014/main" id="{0EC5361D-F897-4856-B945-0455A365EB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415435" y="655140"/>
            <a:ext cx="687472" cy="687472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12">
            <a:extLst>
              <a:ext uri="{FF2B5EF4-FFF2-40B4-BE49-F238E27FC236}">
                <a16:creationId xmlns:a16="http://schemas.microsoft.com/office/drawing/2014/main" id="{4508C0C5-2268-42B5-B3C8-4D0899E05F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0"/>
            <a:ext cx="2835357" cy="1480837"/>
          </a:xfrm>
          <a:custGeom>
            <a:avLst/>
            <a:gdLst>
              <a:gd name="connsiteX0" fmla="*/ 2835357 w 2835357"/>
              <a:gd name="connsiteY0" fmla="*/ 1480837 h 1480837"/>
              <a:gd name="connsiteX1" fmla="*/ 0 w 2835357"/>
              <a:gd name="connsiteY1" fmla="*/ 1480837 h 1480837"/>
              <a:gd name="connsiteX2" fmla="*/ 1552727 w 2835357"/>
              <a:gd name="connsiteY2" fmla="*/ 0 h 1480837"/>
              <a:gd name="connsiteX3" fmla="*/ 2835357 w 2835357"/>
              <a:gd name="connsiteY3" fmla="*/ 1223245 h 148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35357" h="1480837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4" name="Freeform: Shape 14">
            <a:extLst>
              <a:ext uri="{FF2B5EF4-FFF2-40B4-BE49-F238E27FC236}">
                <a16:creationId xmlns:a16="http://schemas.microsoft.com/office/drawing/2014/main" id="{141ACBDB-38F8-4B34-8183-BD95B4E55A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10739327" y="-253670"/>
            <a:ext cx="1827638" cy="1376989"/>
          </a:xfrm>
          <a:custGeom>
            <a:avLst/>
            <a:gdLst>
              <a:gd name="connsiteX0" fmla="*/ 0 w 1827638"/>
              <a:gd name="connsiteY0" fmla="*/ 987379 h 1376989"/>
              <a:gd name="connsiteX1" fmla="*/ 987379 w 1827638"/>
              <a:gd name="connsiteY1" fmla="*/ 0 h 1376989"/>
              <a:gd name="connsiteX2" fmla="*/ 1827638 w 1827638"/>
              <a:gd name="connsiteY2" fmla="*/ 840260 h 1376989"/>
              <a:gd name="connsiteX3" fmla="*/ 1827638 w 1827638"/>
              <a:gd name="connsiteY3" fmla="*/ 1376989 h 1376989"/>
              <a:gd name="connsiteX4" fmla="*/ 0 w 1827638"/>
              <a:gd name="connsiteY4" fmla="*/ 1376989 h 13769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7638" h="1376989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5" name="Rectangle 16">
            <a:extLst>
              <a:ext uri="{FF2B5EF4-FFF2-40B4-BE49-F238E27FC236}">
                <a16:creationId xmlns:a16="http://schemas.microsoft.com/office/drawing/2014/main" id="{DE00DB52-3455-4E2F-867B-A6D0516E17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10653800" y="422146"/>
            <a:ext cx="645368" cy="645368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070020" y="1698170"/>
            <a:ext cx="6478513" cy="4516361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zh-CN" altLang="en-US" sz="2000"/>
              <a:t>变化：</a:t>
            </a:r>
          </a:p>
          <a:p>
            <a:pPr lvl="1"/>
            <a:r>
              <a:rPr lang="zh-CN" altLang="en-US" sz="2000"/>
              <a:t>不再使用原有</a:t>
            </a:r>
            <a:r>
              <a:rPr lang="en-US" altLang="zh-CN" sz="2000"/>
              <a:t>D99 app</a:t>
            </a:r>
          </a:p>
          <a:p>
            <a:pPr lvl="1"/>
            <a:r>
              <a:rPr lang="en-US" altLang="zh-CN" sz="2000"/>
              <a:t>DMP</a:t>
            </a:r>
            <a:r>
              <a:rPr lang="zh-CN" altLang="en-US" sz="2000" dirty="0"/>
              <a:t>新研发接口保持不变，并为其增加缓存策略（编码由产品中心阿正负责）</a:t>
            </a:r>
          </a:p>
          <a:p>
            <a:pPr marL="457200" lvl="1"/>
            <a:endParaRPr lang="en-US" altLang="zh-CN" sz="2000"/>
          </a:p>
          <a:p>
            <a:pPr lvl="0"/>
            <a:r>
              <a:rPr lang="zh-CN" altLang="en-US" sz="2000"/>
              <a:t>再次</a:t>
            </a:r>
            <a:r>
              <a:rPr lang="zh-CN" altLang="en-US" sz="2000" dirty="0"/>
              <a:t>提测目的：</a:t>
            </a:r>
          </a:p>
          <a:p>
            <a:pPr lvl="1"/>
            <a:r>
              <a:rPr lang="en-US" altLang="zh-CN" sz="2000" dirty="0"/>
              <a:t>DMP</a:t>
            </a:r>
            <a:r>
              <a:rPr lang="zh-CN" altLang="en-US" sz="2000" dirty="0"/>
              <a:t>接口优化后表现。</a:t>
            </a:r>
          </a:p>
          <a:p>
            <a:pPr lvl="1"/>
            <a:r>
              <a:rPr lang="zh-CN" altLang="en-US" sz="2000" dirty="0"/>
              <a:t>缓存策略效果。</a:t>
            </a:r>
          </a:p>
          <a:p>
            <a:pPr lvl="1"/>
            <a:r>
              <a:rPr lang="zh-CN" altLang="en-US" sz="2000" dirty="0"/>
              <a:t>对比两种方案。</a:t>
            </a:r>
          </a:p>
          <a:p>
            <a:pPr lvl="1"/>
            <a:endParaRPr lang="en-US" altLang="zh-CN" sz="2000"/>
          </a:p>
        </p:txBody>
      </p:sp>
      <p:sp>
        <p:nvSpPr>
          <p:cNvPr id="19" name="Isosceles Triangle 18">
            <a:extLst>
              <a:ext uri="{FF2B5EF4-FFF2-40B4-BE49-F238E27FC236}">
                <a16:creationId xmlns:a16="http://schemas.microsoft.com/office/drawing/2014/main" id="{9E914C83-E0D8-4953-92D5-169D28CB43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115423" y="6115501"/>
            <a:ext cx="1494513" cy="742499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1" name="Isosceles Triangle 20">
            <a:extLst>
              <a:ext uri="{FF2B5EF4-FFF2-40B4-BE49-F238E27FC236}">
                <a16:creationId xmlns:a16="http://schemas.microsoft.com/office/drawing/2014/main" id="{3512E083-F550-46AF-8490-767ECFD00C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167297" y="6453143"/>
            <a:ext cx="814903" cy="404857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46D6306C-ED4F-4AAE-B4A5-EEA6AFAD72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3467" y="1698171"/>
            <a:ext cx="3962061" cy="4516360"/>
          </a:xfrm>
        </p:spPr>
        <p:txBody>
          <a:bodyPr anchor="t">
            <a:normAutofit/>
          </a:bodyPr>
          <a:lstStyle/>
          <a:p>
            <a:r>
              <a:rPr lang="zh-CN" altLang="en-US" sz="3600" dirty="0"/>
              <a:t>测试准备工作调整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EC5361D-F897-4856-B945-0455A365EB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415435" y="655140"/>
            <a:ext cx="687472" cy="687472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4508C0C5-2268-42B5-B3C8-4D0899E05F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0"/>
            <a:ext cx="2835357" cy="1480837"/>
          </a:xfrm>
          <a:custGeom>
            <a:avLst/>
            <a:gdLst>
              <a:gd name="connsiteX0" fmla="*/ 2835357 w 2835357"/>
              <a:gd name="connsiteY0" fmla="*/ 1480837 h 1480837"/>
              <a:gd name="connsiteX1" fmla="*/ 0 w 2835357"/>
              <a:gd name="connsiteY1" fmla="*/ 1480837 h 1480837"/>
              <a:gd name="connsiteX2" fmla="*/ 1552727 w 2835357"/>
              <a:gd name="connsiteY2" fmla="*/ 0 h 1480837"/>
              <a:gd name="connsiteX3" fmla="*/ 2835357 w 2835357"/>
              <a:gd name="connsiteY3" fmla="*/ 1223245 h 148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35357" h="1480837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141ACBDB-38F8-4B34-8183-BD95B4E55A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10739327" y="-253670"/>
            <a:ext cx="1827638" cy="1376989"/>
          </a:xfrm>
          <a:custGeom>
            <a:avLst/>
            <a:gdLst>
              <a:gd name="connsiteX0" fmla="*/ 0 w 1827638"/>
              <a:gd name="connsiteY0" fmla="*/ 987379 h 1376989"/>
              <a:gd name="connsiteX1" fmla="*/ 987379 w 1827638"/>
              <a:gd name="connsiteY1" fmla="*/ 0 h 1376989"/>
              <a:gd name="connsiteX2" fmla="*/ 1827638 w 1827638"/>
              <a:gd name="connsiteY2" fmla="*/ 840260 h 1376989"/>
              <a:gd name="connsiteX3" fmla="*/ 1827638 w 1827638"/>
              <a:gd name="connsiteY3" fmla="*/ 1376989 h 1376989"/>
              <a:gd name="connsiteX4" fmla="*/ 0 w 1827638"/>
              <a:gd name="connsiteY4" fmla="*/ 1376989 h 13769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7638" h="1376989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E00DB52-3455-4E2F-867B-A6D0516E17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10653800" y="422146"/>
            <a:ext cx="645368" cy="645368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070020" y="1698170"/>
            <a:ext cx="6478513" cy="4516361"/>
          </a:xfrm>
        </p:spPr>
        <p:txBody>
          <a:bodyPr>
            <a:normAutofit/>
          </a:bodyPr>
          <a:lstStyle/>
          <a:p>
            <a:r>
              <a:rPr lang="zh-CN" altLang="en-US" sz="2000"/>
              <a:t>流程：</a:t>
            </a:r>
          </a:p>
          <a:p>
            <a:pPr lvl="1"/>
            <a:r>
              <a:rPr lang="zh-CN" altLang="en-US" sz="2000"/>
              <a:t>简化原有测试流程，将性能测试工作前置之于功能测试</a:t>
            </a:r>
          </a:p>
          <a:p>
            <a:pPr lvl="1"/>
            <a:endParaRPr lang="zh-CN" altLang="en-US" sz="2000"/>
          </a:p>
          <a:p>
            <a:pPr lvl="0"/>
            <a:r>
              <a:rPr lang="zh-CN" altLang="en-US" sz="2000"/>
              <a:t>压测目标：</a:t>
            </a:r>
          </a:p>
          <a:p>
            <a:pPr lvl="1"/>
            <a:r>
              <a:rPr lang="zh-CN" altLang="en-US" sz="2000"/>
              <a:t>目标</a:t>
            </a:r>
            <a:r>
              <a:rPr lang="en-US" altLang="zh-CN" sz="2000"/>
              <a:t>qps</a:t>
            </a:r>
            <a:r>
              <a:rPr lang="zh-CN" altLang="en-US" sz="2000"/>
              <a:t>为</a:t>
            </a:r>
            <a:r>
              <a:rPr lang="en-US" altLang="zh-CN" sz="2000"/>
              <a:t>190</a:t>
            </a:r>
            <a:r>
              <a:rPr lang="zh-CN" altLang="en-US" sz="2000"/>
              <a:t>，同时：</a:t>
            </a:r>
          </a:p>
          <a:p>
            <a:pPr lvl="2"/>
            <a:r>
              <a:rPr lang="zh-CN" altLang="en-US"/>
              <a:t>接口平均延迟</a:t>
            </a:r>
            <a:r>
              <a:rPr lang="en-US" altLang="zh-CN"/>
              <a:t>400ms</a:t>
            </a:r>
            <a:r>
              <a:rPr lang="zh-CN" altLang="en-US"/>
              <a:t>以下</a:t>
            </a:r>
          </a:p>
          <a:p>
            <a:pPr lvl="2"/>
            <a:r>
              <a:rPr lang="zh-CN" altLang="en-US"/>
              <a:t>并发请求接口无报错</a:t>
            </a:r>
          </a:p>
          <a:p>
            <a:pPr lvl="2"/>
            <a:r>
              <a:rPr lang="zh-CN" altLang="en-US"/>
              <a:t>应用缓存策略后性能表现</a:t>
            </a:r>
          </a:p>
          <a:p>
            <a:pPr lvl="1"/>
            <a:endParaRPr lang="zh-CN" altLang="en-US" sz="2000"/>
          </a:p>
        </p:txBody>
      </p:sp>
      <p:sp>
        <p:nvSpPr>
          <p:cNvPr id="18" name="Isosceles Triangle 17">
            <a:extLst>
              <a:ext uri="{FF2B5EF4-FFF2-40B4-BE49-F238E27FC236}">
                <a16:creationId xmlns:a16="http://schemas.microsoft.com/office/drawing/2014/main" id="{9E914C83-E0D8-4953-92D5-169D28CB43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115423" y="6115501"/>
            <a:ext cx="1494513" cy="742499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0" name="Isosceles Triangle 19">
            <a:extLst>
              <a:ext uri="{FF2B5EF4-FFF2-40B4-BE49-F238E27FC236}">
                <a16:creationId xmlns:a16="http://schemas.microsoft.com/office/drawing/2014/main" id="{3512E083-F550-46AF-8490-767ECFD00C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167297" y="6453143"/>
            <a:ext cx="814903" cy="404857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3467" y="321734"/>
            <a:ext cx="10905066" cy="1135737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压测结果</a:t>
            </a:r>
          </a:p>
        </p:txBody>
      </p:sp>
      <p:pic>
        <p:nvPicPr>
          <p:cNvPr id="13" name="图片 12" descr="屏幕上有字&#10;&#10;描述已自动生成">
            <a:extLst>
              <a:ext uri="{FF2B5EF4-FFF2-40B4-BE49-F238E27FC236}">
                <a16:creationId xmlns:a16="http://schemas.microsoft.com/office/drawing/2014/main" id="{43CC3960-1107-5040-B72C-5D761C75DA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467" y="1782981"/>
            <a:ext cx="6253214" cy="4348681"/>
          </a:xfrm>
          <a:prstGeom prst="rect">
            <a:avLst/>
          </a:prstGeom>
        </p:spPr>
      </p:pic>
      <p:sp>
        <p:nvSpPr>
          <p:cNvPr id="32" name="文本框 31">
            <a:extLst>
              <a:ext uri="{FF2B5EF4-FFF2-40B4-BE49-F238E27FC236}">
                <a16:creationId xmlns:a16="http://schemas.microsoft.com/office/drawing/2014/main" id="{0FC7C4E7-AE2C-AE40-AE69-0ACC844AF67B}"/>
              </a:ext>
            </a:extLst>
          </p:cNvPr>
          <p:cNvSpPr txBox="1"/>
          <p:nvPr/>
        </p:nvSpPr>
        <p:spPr>
          <a:xfrm>
            <a:off x="7544052" y="1782981"/>
            <a:ext cx="4004479" cy="43939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kumimoji="1" lang="zh-CN" altLang="en-US" sz="2800" dirty="0"/>
              <a:t>接口延迟下降明显</a:t>
            </a:r>
            <a:endParaRPr kumimoji="1" lang="en-US" altLang="zh-CN" sz="2800" dirty="0"/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kumimoji="1" lang="en-US" altLang="zh-CN" sz="2800" dirty="0"/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kumimoji="1" lang="zh-CN" altLang="en-US" sz="2800" dirty="0"/>
              <a:t>优化结果达到了目标</a:t>
            </a:r>
            <a:endParaRPr kumimoji="1" lang="en-US" altLang="zh-CN" sz="2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2B566528-1B12-4246-9431-5C2D7D0811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3467" y="321734"/>
            <a:ext cx="10905066" cy="1135737"/>
          </a:xfrm>
        </p:spPr>
        <p:txBody>
          <a:bodyPr>
            <a:normAutofit/>
          </a:bodyPr>
          <a:lstStyle/>
          <a:p>
            <a:r>
              <a:rPr lang="zh-CN" altLang="en-US" sz="3600"/>
              <a:t>性能测试结论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43469" y="1782981"/>
            <a:ext cx="4008384" cy="4393982"/>
          </a:xfrm>
        </p:spPr>
        <p:txBody>
          <a:bodyPr>
            <a:normAutofit/>
          </a:bodyPr>
          <a:lstStyle/>
          <a:p>
            <a:r>
              <a:rPr lang="zh-CN" altLang="en-US" sz="1700"/>
              <a:t>在当前</a:t>
            </a:r>
            <a:r>
              <a:rPr lang="en-US" altLang="zh-CN" sz="1700"/>
              <a:t>QPS</a:t>
            </a:r>
            <a:r>
              <a:rPr lang="zh-CN" altLang="en-US" sz="1700"/>
              <a:t>限制配置下，被压服务无明显功能问题。</a:t>
            </a:r>
            <a:endParaRPr lang="en-US" altLang="zh-CN" sz="1700"/>
          </a:p>
          <a:p>
            <a:endParaRPr lang="zh-CN" altLang="en-US" sz="1700"/>
          </a:p>
          <a:p>
            <a:r>
              <a:rPr lang="zh-CN" altLang="en-US" sz="1700"/>
              <a:t>新增的缓存策略对原有接口性能有所提升</a:t>
            </a:r>
          </a:p>
          <a:p>
            <a:endParaRPr lang="zh-CN" altLang="en-US" sz="1700"/>
          </a:p>
          <a:p>
            <a:r>
              <a:rPr lang="zh-CN" altLang="en-US" sz="1700"/>
              <a:t>盲点：</a:t>
            </a:r>
          </a:p>
          <a:p>
            <a:pPr lvl="1"/>
            <a:r>
              <a:rPr lang="zh-CN" altLang="en-US" sz="1700"/>
              <a:t>压测期间，服务的</a:t>
            </a:r>
            <a:r>
              <a:rPr lang="en-US" altLang="zh-CN" sz="1700"/>
              <a:t>cpu</a:t>
            </a:r>
            <a:r>
              <a:rPr lang="zh-CN" altLang="en-US" sz="1700"/>
              <a:t>使用率保持在</a:t>
            </a:r>
            <a:r>
              <a:rPr lang="en-US" altLang="zh-CN" sz="1700"/>
              <a:t>30%</a:t>
            </a:r>
            <a:r>
              <a:rPr lang="zh-CN" altLang="en-US" sz="1700"/>
              <a:t>，上浮后的表现未知。</a:t>
            </a:r>
          </a:p>
          <a:p>
            <a:pPr lvl="1"/>
            <a:endParaRPr lang="zh-CN" altLang="en-US" sz="1700"/>
          </a:p>
          <a:p>
            <a:pPr lvl="0"/>
            <a:r>
              <a:rPr lang="en-US" altLang="zh-CN" sz="1700"/>
              <a:t>To do</a:t>
            </a:r>
            <a:r>
              <a:rPr lang="zh-CN" altLang="en-US" sz="1700"/>
              <a:t>：</a:t>
            </a:r>
          </a:p>
          <a:p>
            <a:pPr lvl="1"/>
            <a:r>
              <a:rPr lang="zh-CN" altLang="en-US" sz="1700"/>
              <a:t>开放上限后，找出性能极限，评估性能表现。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28A5161-06F1-46CF-8AD7-844680A59E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4601497"/>
            <a:ext cx="1014060" cy="2017580"/>
            <a:chOff x="0" y="4601497"/>
            <a:chExt cx="1014060" cy="2017580"/>
          </a:xfrm>
        </p:grpSpPr>
        <p:sp>
          <p:nvSpPr>
            <p:cNvPr id="14" name="Isosceles Triangle 13">
              <a:extLst>
                <a:ext uri="{FF2B5EF4-FFF2-40B4-BE49-F238E27FC236}">
                  <a16:creationId xmlns:a16="http://schemas.microsoft.com/office/drawing/2014/main" id="{D3F51FEB-38FB-4F6C-9F7B-2F2AFAB6546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-501760" y="5103257"/>
              <a:ext cx="2017580" cy="1014060"/>
            </a:xfrm>
            <a:prstGeom prst="triangle">
              <a:avLst>
                <a:gd name="adj" fmla="val 50000"/>
              </a:avLst>
            </a:prstGeom>
            <a:solidFill>
              <a:schemeClr val="accent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1E547BA6-BAE0-43BB-A7CA-60F69CE252F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2700000">
              <a:off x="427916" y="5728708"/>
              <a:ext cx="485578" cy="485578"/>
            </a:xfrm>
            <a:prstGeom prst="rect">
              <a:avLst/>
            </a:prstGeom>
            <a:solidFill>
              <a:schemeClr val="accent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6" name="图片 5" descr="图形用户界面, 文本, 应用程序&#10;&#10;描述已自动生成">
            <a:extLst>
              <a:ext uri="{FF2B5EF4-FFF2-40B4-BE49-F238E27FC236}">
                <a16:creationId xmlns:a16="http://schemas.microsoft.com/office/drawing/2014/main" id="{58E758D5-84F5-1E46-B9C3-689C426349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95320" y="2377174"/>
            <a:ext cx="6253212" cy="3173505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5995D10D-E9C9-47DB-AE7E-801FEF38F5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219290" y="1"/>
            <a:ext cx="972709" cy="1935307"/>
            <a:chOff x="10918968" y="713127"/>
            <a:chExt cx="1273032" cy="2532832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CC1A72C6-3DE4-4EC3-9AD5-9E0D40D8CE8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2700000">
              <a:off x="11052629" y="2120024"/>
              <a:ext cx="645368" cy="645368"/>
            </a:xfrm>
            <a:prstGeom prst="rect">
              <a:avLst/>
            </a:prstGeom>
            <a:solidFill>
              <a:schemeClr val="accent4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Isosceles Triangle 18">
              <a:extLst>
                <a:ext uri="{FF2B5EF4-FFF2-40B4-BE49-F238E27FC236}">
                  <a16:creationId xmlns:a16="http://schemas.microsoft.com/office/drawing/2014/main" id="{0B0DA1F1-C391-4EDF-9FE0-23E86E13776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10289068" y="1343027"/>
              <a:ext cx="2532832" cy="1273032"/>
            </a:xfrm>
            <a:prstGeom prst="triangle">
              <a:avLst>
                <a:gd name="adj" fmla="val 50000"/>
              </a:avLst>
            </a:prstGeom>
            <a:solidFill>
              <a:schemeClr val="accent4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46D6306C-ED4F-4AAE-B4A5-EEA6AFAD72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3467" y="1698171"/>
            <a:ext cx="3962061" cy="4516360"/>
          </a:xfrm>
        </p:spPr>
        <p:txBody>
          <a:bodyPr anchor="t">
            <a:normAutofit/>
          </a:bodyPr>
          <a:lstStyle/>
          <a:p>
            <a:r>
              <a:rPr lang="zh-CN" altLang="en-US" sz="3600" dirty="0"/>
              <a:t>这些技能提升了！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0EC5361D-F897-4856-B945-0455A365EB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415435" y="655140"/>
            <a:ext cx="687472" cy="687472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4508C0C5-2268-42B5-B3C8-4D0899E05F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0"/>
            <a:ext cx="2835357" cy="1480837"/>
          </a:xfrm>
          <a:custGeom>
            <a:avLst/>
            <a:gdLst>
              <a:gd name="connsiteX0" fmla="*/ 2835357 w 2835357"/>
              <a:gd name="connsiteY0" fmla="*/ 1480837 h 1480837"/>
              <a:gd name="connsiteX1" fmla="*/ 0 w 2835357"/>
              <a:gd name="connsiteY1" fmla="*/ 1480837 h 1480837"/>
              <a:gd name="connsiteX2" fmla="*/ 1552727 w 2835357"/>
              <a:gd name="connsiteY2" fmla="*/ 0 h 1480837"/>
              <a:gd name="connsiteX3" fmla="*/ 2835357 w 2835357"/>
              <a:gd name="connsiteY3" fmla="*/ 1223245 h 148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35357" h="1480837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141ACBDB-38F8-4B34-8183-BD95B4E55A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10739327" y="-253670"/>
            <a:ext cx="1827638" cy="1376989"/>
          </a:xfrm>
          <a:custGeom>
            <a:avLst/>
            <a:gdLst>
              <a:gd name="connsiteX0" fmla="*/ 0 w 1827638"/>
              <a:gd name="connsiteY0" fmla="*/ 987379 h 1376989"/>
              <a:gd name="connsiteX1" fmla="*/ 987379 w 1827638"/>
              <a:gd name="connsiteY1" fmla="*/ 0 h 1376989"/>
              <a:gd name="connsiteX2" fmla="*/ 1827638 w 1827638"/>
              <a:gd name="connsiteY2" fmla="*/ 840260 h 1376989"/>
              <a:gd name="connsiteX3" fmla="*/ 1827638 w 1827638"/>
              <a:gd name="connsiteY3" fmla="*/ 1376989 h 1376989"/>
              <a:gd name="connsiteX4" fmla="*/ 0 w 1827638"/>
              <a:gd name="connsiteY4" fmla="*/ 1376989 h 13769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7638" h="1376989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DE00DB52-3455-4E2F-867B-A6D0516E17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10653800" y="422146"/>
            <a:ext cx="645368" cy="645368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070020" y="1698170"/>
            <a:ext cx="6478513" cy="4516361"/>
          </a:xfrm>
        </p:spPr>
        <p:txBody>
          <a:bodyPr>
            <a:normAutofit/>
          </a:bodyPr>
          <a:lstStyle/>
          <a:p>
            <a:pPr lvl="0"/>
            <a:r>
              <a:rPr lang="en-US" altLang="zh-CN" sz="2000" dirty="0"/>
              <a:t> </a:t>
            </a:r>
            <a:r>
              <a:rPr lang="zh-CN" altLang="en-US" sz="2000" dirty="0"/>
              <a:t>独立负责一个相对比较完整的项目的压测</a:t>
            </a:r>
          </a:p>
          <a:p>
            <a:pPr lvl="1"/>
            <a:r>
              <a:rPr lang="zh-CN" altLang="en-US" sz="2000" dirty="0"/>
              <a:t>信心增长了</a:t>
            </a:r>
          </a:p>
          <a:p>
            <a:pPr lvl="1"/>
            <a:r>
              <a:rPr lang="zh-CN" altLang="en-US" sz="2000" dirty="0"/>
              <a:t>说话硬气了</a:t>
            </a:r>
          </a:p>
          <a:p>
            <a:pPr lvl="1"/>
            <a:endParaRPr lang="zh-CN" altLang="en-US" sz="2000" dirty="0"/>
          </a:p>
          <a:p>
            <a:pPr lvl="0"/>
            <a:r>
              <a:rPr lang="zh-CN" altLang="en-US" sz="2000" dirty="0"/>
              <a:t>关注重心明确了</a:t>
            </a:r>
          </a:p>
          <a:p>
            <a:pPr lvl="1"/>
            <a:r>
              <a:rPr lang="zh-CN" altLang="en-US" sz="2000" dirty="0"/>
              <a:t>前期：需求背景，业务链路，测试范围，影响范围，数据来源，测试目标</a:t>
            </a:r>
            <a:endParaRPr lang="en-US" altLang="zh-CN" sz="2000" dirty="0"/>
          </a:p>
          <a:p>
            <a:pPr lvl="1"/>
            <a:endParaRPr lang="zh-CN" altLang="en-US" sz="2000" dirty="0"/>
          </a:p>
          <a:p>
            <a:pPr lvl="1"/>
            <a:r>
              <a:rPr lang="zh-CN" altLang="en-US" sz="2000" dirty="0"/>
              <a:t>对</a:t>
            </a:r>
            <a:r>
              <a:rPr lang="en-US" altLang="zh-CN" sz="2000" dirty="0"/>
              <a:t>“</a:t>
            </a:r>
            <a:r>
              <a:rPr lang="zh-CN" altLang="en-US" sz="2000" dirty="0"/>
              <a:t>将</a:t>
            </a:r>
            <a:r>
              <a:rPr lang="en-US" altLang="zh-CN" sz="2000" dirty="0"/>
              <a:t>80%</a:t>
            </a:r>
            <a:r>
              <a:rPr lang="zh-CN" altLang="en-US" sz="2000" dirty="0"/>
              <a:t>的注意力放在压测前的调研和目标制定上所带来的效果提升</a:t>
            </a:r>
            <a:r>
              <a:rPr lang="en-US" altLang="zh-CN" sz="2000" dirty="0"/>
              <a:t>”</a:t>
            </a:r>
            <a:r>
              <a:rPr lang="zh-CN" altLang="en-US" sz="2000" dirty="0"/>
              <a:t>有了更直观的感受</a:t>
            </a:r>
          </a:p>
        </p:txBody>
      </p:sp>
      <p:sp>
        <p:nvSpPr>
          <p:cNvPr id="35" name="Isosceles Triangle 34">
            <a:extLst>
              <a:ext uri="{FF2B5EF4-FFF2-40B4-BE49-F238E27FC236}">
                <a16:creationId xmlns:a16="http://schemas.microsoft.com/office/drawing/2014/main" id="{9E914C83-E0D8-4953-92D5-169D28CB43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115423" y="6115501"/>
            <a:ext cx="1494513" cy="742499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7" name="Isosceles Triangle 36">
            <a:extLst>
              <a:ext uri="{FF2B5EF4-FFF2-40B4-BE49-F238E27FC236}">
                <a16:creationId xmlns:a16="http://schemas.microsoft.com/office/drawing/2014/main" id="{3512E083-F550-46AF-8490-767ECFD00C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167297" y="6453143"/>
            <a:ext cx="814903" cy="404857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Rectangle 65">
            <a:extLst>
              <a:ext uri="{FF2B5EF4-FFF2-40B4-BE49-F238E27FC236}">
                <a16:creationId xmlns:a16="http://schemas.microsoft.com/office/drawing/2014/main" id="{12FB12AE-71D1-47FD-9AC3-EE2C074245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3640F4B3-0722-9F49-A790-BE858E1A8C4A}"/>
              </a:ext>
            </a:extLst>
          </p:cNvPr>
          <p:cNvSpPr txBox="1"/>
          <p:nvPr/>
        </p:nvSpPr>
        <p:spPr>
          <a:xfrm>
            <a:off x="643468" y="621792"/>
            <a:ext cx="4989890" cy="54132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zh-CN" altLang="en-US" sz="3600" kern="1200">
                <a:solidFill>
                  <a:schemeClr val="tx1"/>
                </a:solidFill>
                <a:latin typeface="+mj-lt"/>
                <a:ea typeface="+mj-ea"/>
                <a:cs typeface="+mj-cs"/>
                <a:sym typeface="+mn-ea"/>
              </a:rPr>
              <a:t>中期关注点</a:t>
            </a:r>
            <a:endParaRPr lang="en-US" altLang="zh-CN" sz="3600" kern="1200" dirty="0">
              <a:solidFill>
                <a:schemeClr val="tx1"/>
              </a:solidFill>
              <a:latin typeface="+mj-lt"/>
              <a:ea typeface="+mj-ea"/>
              <a:cs typeface="+mj-cs"/>
              <a:sym typeface="+mn-ea"/>
            </a:endParaRPr>
          </a:p>
        </p:txBody>
      </p:sp>
      <p:sp>
        <p:nvSpPr>
          <p:cNvPr id="73" name="Freeform: Shape 67">
            <a:extLst>
              <a:ext uri="{FF2B5EF4-FFF2-40B4-BE49-F238E27FC236}">
                <a16:creationId xmlns:a16="http://schemas.microsoft.com/office/drawing/2014/main" id="{64853C7E-3CBA-4464-865F-6044D94B1B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338487" y="2994212"/>
            <a:ext cx="1345385" cy="668410"/>
          </a:xfrm>
          <a:custGeom>
            <a:avLst/>
            <a:gdLst>
              <a:gd name="connsiteX0" fmla="*/ 0 w 1345385"/>
              <a:gd name="connsiteY0" fmla="*/ 668410 h 668410"/>
              <a:gd name="connsiteX1" fmla="*/ 672692 w 1345385"/>
              <a:gd name="connsiteY1" fmla="*/ 0 h 668410"/>
              <a:gd name="connsiteX2" fmla="*/ 1345385 w 1345385"/>
              <a:gd name="connsiteY2" fmla="*/ 668410 h 6684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345385" h="668410">
                <a:moveTo>
                  <a:pt x="0" y="668410"/>
                </a:moveTo>
                <a:lnTo>
                  <a:pt x="672692" y="0"/>
                </a:lnTo>
                <a:lnTo>
                  <a:pt x="1345385" y="668410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55EFEC59-B929-4851-9DEF-9106F27979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83480" y="2760304"/>
            <a:ext cx="418137" cy="418137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6C132392-D5FF-4588-8FA1-5BAD77BF64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508836" y="4124955"/>
            <a:ext cx="635336" cy="635336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C7EAC045-695C-4E73-9B7C-AFD6FB22DA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836522" y="4621062"/>
            <a:ext cx="224347" cy="224347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Isosceles Triangle 75">
            <a:extLst>
              <a:ext uri="{FF2B5EF4-FFF2-40B4-BE49-F238E27FC236}">
                <a16:creationId xmlns:a16="http://schemas.microsoft.com/office/drawing/2014/main" id="{404A7A3A-BEAE-4BC6-A163-5D0E5F8C46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8100000">
            <a:off x="10175676" y="5597890"/>
            <a:ext cx="2982940" cy="1481975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12ED3B7D-405D-4DFA-8608-B6DE746718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11046240" y="5280494"/>
            <a:ext cx="841505" cy="841505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61" name="内容占位符 2"/>
          <p:cNvSpPr>
            <a:spLocks noGrp="1"/>
          </p:cNvSpPr>
          <p:nvPr>
            <p:ph idx="1"/>
          </p:nvPr>
        </p:nvSpPr>
        <p:spPr>
          <a:xfrm>
            <a:off x="6096000" y="643466"/>
            <a:ext cx="5452532" cy="5571065"/>
          </a:xfrm>
          <a:noFill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z="2000">
                <a:sym typeface="+mn-ea"/>
              </a:rPr>
              <a:t>独立部署测试集群和可视化监控，设计评审测试脚本，协同</a:t>
            </a:r>
            <a:r>
              <a:rPr lang="en-US" altLang="zh-CN" sz="2000">
                <a:sym typeface="+mn-ea"/>
              </a:rPr>
              <a:t>infra</a:t>
            </a:r>
            <a:r>
              <a:rPr lang="zh-CN" altLang="en-US" sz="2000">
                <a:sym typeface="+mn-ea"/>
              </a:rPr>
              <a:t>准备测试环境，根据链路分析性能瓶颈，及时准确反馈问题范围</a:t>
            </a:r>
          </a:p>
          <a:p>
            <a:pPr marL="0"/>
            <a:endParaRPr lang="en-US" altLang="zh-CN" sz="2000"/>
          </a:p>
          <a:p>
            <a:r>
              <a:rPr lang="zh-CN" altLang="en-US" sz="2000"/>
              <a:t>部署环境和脚本调试以往压测耗费时间最长的环节</a:t>
            </a:r>
          </a:p>
          <a:p>
            <a:pPr lvl="2"/>
            <a:endParaRPr lang="en-US" altLang="zh-CN"/>
          </a:p>
          <a:p>
            <a:r>
              <a:rPr lang="zh-CN" altLang="en-US" sz="2000"/>
              <a:t>不要过于拘泥于工具上的细节而忽略更重要的问题</a:t>
            </a:r>
          </a:p>
          <a:p>
            <a:pPr lvl="2"/>
            <a:endParaRPr lang="en-US" altLang="zh-CN"/>
          </a:p>
          <a:p>
            <a:r>
              <a:rPr lang="zh-CN" altLang="en-US" sz="2000"/>
              <a:t>部署和操作基于前期分析链路而制定的目标，不应成为性能测试耗时源头</a:t>
            </a:r>
          </a:p>
          <a:p>
            <a:pPr lvl="2"/>
            <a:endParaRPr lang="en-US" altLang="zh-CN"/>
          </a:p>
          <a:p>
            <a:pPr lvl="2"/>
            <a:endParaRPr lang="en-US" altLang="zh-CN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12FB12AE-71D1-47FD-9AC3-EE2C074245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FDC42003-F30E-8B47-BF10-8B94DCB58E2D}"/>
              </a:ext>
            </a:extLst>
          </p:cNvPr>
          <p:cNvSpPr txBox="1"/>
          <p:nvPr/>
        </p:nvSpPr>
        <p:spPr>
          <a:xfrm>
            <a:off x="643468" y="621792"/>
            <a:ext cx="4989890" cy="54132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kumimoji="1" lang="zh-CN" altLang="en-US" sz="3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后期关注点</a:t>
            </a:r>
            <a:endParaRPr kumimoji="1" lang="zh-CN" altLang="en-US" sz="3600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64853C7E-3CBA-4464-865F-6044D94B1B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338487" y="2994212"/>
            <a:ext cx="1345385" cy="668410"/>
          </a:xfrm>
          <a:custGeom>
            <a:avLst/>
            <a:gdLst>
              <a:gd name="connsiteX0" fmla="*/ 0 w 1345385"/>
              <a:gd name="connsiteY0" fmla="*/ 668410 h 668410"/>
              <a:gd name="connsiteX1" fmla="*/ 672692 w 1345385"/>
              <a:gd name="connsiteY1" fmla="*/ 0 h 668410"/>
              <a:gd name="connsiteX2" fmla="*/ 1345385 w 1345385"/>
              <a:gd name="connsiteY2" fmla="*/ 668410 h 6684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345385" h="668410">
                <a:moveTo>
                  <a:pt x="0" y="668410"/>
                </a:moveTo>
                <a:lnTo>
                  <a:pt x="672692" y="0"/>
                </a:lnTo>
                <a:lnTo>
                  <a:pt x="1345385" y="668410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5EFEC59-B929-4851-9DEF-9106F27979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83480" y="2760304"/>
            <a:ext cx="418137" cy="418137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C132392-D5FF-4588-8FA1-5BAD77BF64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508836" y="4124955"/>
            <a:ext cx="635336" cy="635336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7EAC045-695C-4E73-9B7C-AFD6FB22DA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836522" y="4621062"/>
            <a:ext cx="224347" cy="224347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Isosceles Triangle 17">
            <a:extLst>
              <a:ext uri="{FF2B5EF4-FFF2-40B4-BE49-F238E27FC236}">
                <a16:creationId xmlns:a16="http://schemas.microsoft.com/office/drawing/2014/main" id="{404A7A3A-BEAE-4BC6-A163-5D0E5F8C46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8100000">
            <a:off x="10175676" y="5597890"/>
            <a:ext cx="2982940" cy="1481975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2ED3B7D-405D-4DFA-8608-B6DE746718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11046240" y="5280494"/>
            <a:ext cx="841505" cy="841505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096000" y="643466"/>
            <a:ext cx="5452532" cy="5571065"/>
          </a:xfrm>
          <a:noFill/>
        </p:spPr>
        <p:txBody>
          <a:bodyPr vert="horz" lIns="91440" tIns="45720" rIns="91440" bIns="45720" rtlCol="0" anchor="ctr">
            <a:normAutofit/>
          </a:bodyPr>
          <a:lstStyle/>
          <a:p>
            <a:pPr marL="0" lvl="1"/>
            <a:endParaRPr lang="en-US" altLang="zh-CN" sz="2000">
              <a:sym typeface="+mn-ea"/>
            </a:endParaRPr>
          </a:p>
          <a:p>
            <a:pPr marL="0" lvl="1"/>
            <a:r>
              <a:rPr lang="zh-CN" altLang="en-US" sz="2000">
                <a:sym typeface="+mn-ea"/>
              </a:rPr>
              <a:t>撰写</a:t>
            </a:r>
            <a:r>
              <a:rPr lang="zh-CN" altLang="en-US" sz="2000" dirty="0">
                <a:sym typeface="+mn-ea"/>
              </a:rPr>
              <a:t>测试报告，评估风险，提出改进意见，组织复盘</a:t>
            </a:r>
          </a:p>
          <a:p>
            <a:pPr marL="0" lvl="1"/>
            <a:endParaRPr lang="en-US" altLang="zh-CN" sz="2000" dirty="0">
              <a:sym typeface="+mn-ea"/>
            </a:endParaRPr>
          </a:p>
          <a:p>
            <a:pPr marL="0" lvl="1"/>
            <a:r>
              <a:rPr lang="zh-CN" altLang="en-US" sz="2000" dirty="0"/>
              <a:t>除了产出报告，还需总结在前期制定策略的方法和思路，加以复用</a:t>
            </a:r>
            <a:endParaRPr lang="en-US" altLang="zh-CN" sz="2000" dirty="0"/>
          </a:p>
          <a:p>
            <a:pPr marL="0" lvl="1"/>
            <a:endParaRPr lang="en-US" altLang="zh-CN" sz="2000" dirty="0"/>
          </a:p>
          <a:p>
            <a:pPr marL="0" lvl="1"/>
            <a:r>
              <a:rPr lang="zh-CN" altLang="en-US" sz="2000" dirty="0"/>
              <a:t>总结本期测试中产生性能问题的原因，形成基准库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76</TotalTime>
  <Words>1241</Words>
  <Application>Microsoft Macintosh PowerPoint</Application>
  <PresentationFormat>宽屏</PresentationFormat>
  <Paragraphs>190</Paragraphs>
  <Slides>13</Slides>
  <Notes>10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13</vt:i4>
      </vt:variant>
    </vt:vector>
  </HeadingPairs>
  <TitlesOfParts>
    <vt:vector size="18" baseType="lpstr">
      <vt:lpstr>等线</vt:lpstr>
      <vt:lpstr>等线 Light</vt:lpstr>
      <vt:lpstr>Arial</vt:lpstr>
      <vt:lpstr>Calibri</vt:lpstr>
      <vt:lpstr>Office 主题​​</vt:lpstr>
      <vt:lpstr>D99星性能测试回顾与 心得分享</vt:lpstr>
      <vt:lpstr>测试背景</vt:lpstr>
      <vt:lpstr>调研结果</vt:lpstr>
      <vt:lpstr>PowerPoint 演示文稿</vt:lpstr>
      <vt:lpstr>首次提测</vt:lpstr>
      <vt:lpstr>首轮压测结果</vt:lpstr>
      <vt:lpstr>PowerPoint 演示文稿</vt:lpstr>
      <vt:lpstr>测试准备工作调整</vt:lpstr>
      <vt:lpstr>压测结果</vt:lpstr>
      <vt:lpstr>性能测试结论</vt:lpstr>
      <vt:lpstr>这些技能提升了！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D99星性能测试回顾与 经验分享</dc:title>
  <dc:creator>Renfei Wang</dc:creator>
  <cp:lastModifiedBy>Renfei Wang</cp:lastModifiedBy>
  <cp:revision>88</cp:revision>
  <dcterms:created xsi:type="dcterms:W3CDTF">2021-08-09T10:00:00Z</dcterms:created>
  <dcterms:modified xsi:type="dcterms:W3CDTF">2021-08-16T12:04:42Z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5C805FF13D864E2A85BB91FF3E624317</vt:lpwstr>
  </property>
  <property fmtid="{D5CDD505-2E9C-101B-9397-08002B2CF9AE}" pid="3" name="KSOProductBuildVer">
    <vt:lpwstr>2052-11.1.0.10700</vt:lpwstr>
  </property>
</Properties>
</file>