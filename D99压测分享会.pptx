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57" r:id="rId4"/>
    <p:sldId id="258" r:id="rId6"/>
    <p:sldId id="259" r:id="rId7"/>
    <p:sldId id="260" r:id="rId8"/>
    <p:sldId id="261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enfei Wang" initials="RW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972"/>
  </p:normalViewPr>
  <p:slideViewPr>
    <p:cSldViewPr snapToGrid="0" snapToObjects="1">
      <p:cViewPr varScale="1">
        <p:scale>
          <a:sx n="104" d="100"/>
          <a:sy n="104" d="100"/>
        </p:scale>
        <p:origin x="8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commentAuthors" Target="commentAuthors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3C61AFD-BF02-4CEA-8BC5-45076E5F983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B5BBAB7-0BE4-47BF-ADA1-D7A6CB7383DA}">
      <dgm:prSet/>
      <dgm:spPr/>
      <dgm:t>
        <a:bodyPr/>
        <a:lstStyle/>
        <a:p>
          <a:r>
            <a:rPr kumimoji="1" lang="zh-CN"/>
            <a:t>接口梳理方案</a:t>
          </a:r>
          <a:endParaRPr lang="en-US"/>
        </a:p>
      </dgm:t>
    </dgm:pt>
    <dgm:pt modelId="{EF3298D2-831F-46B7-80F9-A7A506C6D7BB}" cxnId="{C0BCEC63-491A-421E-A49F-2494622A5435}" type="parTrans">
      <dgm:prSet/>
      <dgm:spPr/>
      <dgm:t>
        <a:bodyPr/>
        <a:lstStyle/>
        <a:p>
          <a:endParaRPr lang="en-US"/>
        </a:p>
      </dgm:t>
    </dgm:pt>
    <dgm:pt modelId="{190A2223-7014-42C9-BAFD-EA733D5391E1}" cxnId="{C0BCEC63-491A-421E-A49F-2494622A5435}" type="sibTrans">
      <dgm:prSet/>
      <dgm:spPr/>
      <dgm:t>
        <a:bodyPr/>
        <a:lstStyle/>
        <a:p>
          <a:endParaRPr lang="en-US"/>
        </a:p>
      </dgm:t>
    </dgm:pt>
    <dgm:pt modelId="{F91952BC-5703-4DF9-8022-A78FD4AADE09}">
      <dgm:prSet/>
      <dgm:spPr/>
      <dgm:t>
        <a:bodyPr/>
        <a:lstStyle/>
        <a:p>
          <a:r>
            <a:rPr kumimoji="1" lang="zh-CN"/>
            <a:t>通过抓包，整理用户角度触发路径较短的接口，并与开发方核对。</a:t>
          </a:r>
          <a:endParaRPr lang="en-US"/>
        </a:p>
      </dgm:t>
    </dgm:pt>
    <dgm:pt modelId="{8CA28267-75A8-4BF6-A2F8-60ACABC07CE2}" cxnId="{B6FC03CF-0718-4084-AC96-A56C12249744}" type="parTrans">
      <dgm:prSet/>
      <dgm:spPr/>
      <dgm:t>
        <a:bodyPr/>
        <a:lstStyle/>
        <a:p>
          <a:endParaRPr lang="en-US"/>
        </a:p>
      </dgm:t>
    </dgm:pt>
    <dgm:pt modelId="{0868423C-CC63-4AEE-B611-22FF95B5DDC9}" cxnId="{B6FC03CF-0718-4084-AC96-A56C12249744}" type="sibTrans">
      <dgm:prSet/>
      <dgm:spPr/>
      <dgm:t>
        <a:bodyPr/>
        <a:lstStyle/>
        <a:p>
          <a:endParaRPr lang="en-US"/>
        </a:p>
      </dgm:t>
    </dgm:pt>
    <dgm:pt modelId="{2AA60B37-9D95-44FD-AA2B-FA26A542C3B9}">
      <dgm:prSet/>
      <dgm:spPr/>
      <dgm:t>
        <a:bodyPr/>
        <a:lstStyle/>
        <a:p>
          <a:r>
            <a:rPr kumimoji="1" lang="zh-CN"/>
            <a:t>梳理结果：抓包准确性不理想。</a:t>
          </a:r>
          <a:endParaRPr lang="en-US"/>
        </a:p>
      </dgm:t>
    </dgm:pt>
    <dgm:pt modelId="{C73681AC-2BCE-4A8D-A65E-19A98932E76B}" cxnId="{A00FB372-34F5-4D13-BF51-77F7993E2665}" type="parTrans">
      <dgm:prSet/>
      <dgm:spPr/>
      <dgm:t>
        <a:bodyPr/>
        <a:lstStyle/>
        <a:p>
          <a:endParaRPr lang="en-US"/>
        </a:p>
      </dgm:t>
    </dgm:pt>
    <dgm:pt modelId="{768D4C53-426C-4E6E-8FE2-3D213D9A2672}" cxnId="{A00FB372-34F5-4D13-BF51-77F7993E2665}" type="sibTrans">
      <dgm:prSet/>
      <dgm:spPr/>
      <dgm:t>
        <a:bodyPr/>
        <a:lstStyle/>
        <a:p>
          <a:endParaRPr lang="en-US"/>
        </a:p>
      </dgm:t>
    </dgm:pt>
    <dgm:pt modelId="{DFFB2F7D-E3AD-4D75-9080-DE16D509EF7B}">
      <dgm:prSet/>
      <dgm:spPr/>
      <dgm:t>
        <a:bodyPr/>
        <a:lstStyle/>
        <a:p>
          <a:r>
            <a:rPr kumimoji="1" lang="zh-CN"/>
            <a:t>定位原因</a:t>
          </a:r>
          <a:endParaRPr lang="en-US"/>
        </a:p>
      </dgm:t>
    </dgm:pt>
    <dgm:pt modelId="{98FE4A24-4E70-40AD-AA3C-9E599280E4B2}" cxnId="{20F856D2-75AA-4F77-A297-2A27CC571DFD}" type="parTrans">
      <dgm:prSet/>
      <dgm:spPr/>
      <dgm:t>
        <a:bodyPr/>
        <a:lstStyle/>
        <a:p>
          <a:endParaRPr lang="en-US"/>
        </a:p>
      </dgm:t>
    </dgm:pt>
    <dgm:pt modelId="{60DDC569-18AB-4DD7-9271-6D78F4C44FF3}" cxnId="{20F856D2-75AA-4F77-A297-2A27CC571DFD}" type="sibTrans">
      <dgm:prSet/>
      <dgm:spPr/>
      <dgm:t>
        <a:bodyPr/>
        <a:lstStyle/>
        <a:p>
          <a:endParaRPr lang="en-US"/>
        </a:p>
      </dgm:t>
    </dgm:pt>
    <dgm:pt modelId="{7106390C-1EC2-42A5-B33B-4ECE2F3C9402}">
      <dgm:prSet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kumimoji="1" lang="zh-CN"/>
            <a:t>原因</a:t>
          </a:r>
          <a:r>
            <a:rPr kumimoji="1" lang="en-US"/>
            <a:t>:</a:t>
          </a:r>
          <a:r>
            <a:rPr kumimoji="1" lang="zh-CN"/>
            <a:t>  </a:t>
          </a:r>
          <a:r>
            <a:rPr kumimoji="1" lang="en-US"/>
            <a:t>app</a:t>
          </a:r>
          <a:r>
            <a:rPr kumimoji="1" lang="zh-CN"/>
            <a:t>做过防代理抓包处理，</a:t>
          </a:r>
          <a:r>
            <a:rPr kumimoji="1" lang="zh-CN"/>
            <a:t>没有暴露的接口可被抓取</a:t>
          </a:r>
          <a:r>
            <a:rPr kumimoji="1" lang="zh-CN" altLang="en-US"/>
            <a:t/>
          </a:r>
          <a:endParaRPr kumimoji="1" lang="zh-CN" altLang="en-US"/>
        </a:p>
      </dgm:t>
    </dgm:pt>
    <dgm:pt modelId="{4D323E42-EE8C-4B12-B508-7913A9028CCE}" cxnId="{954B9177-9298-4EA5-A37D-9CACFF32334C}" type="parTrans">
      <dgm:prSet/>
      <dgm:spPr/>
      <dgm:t>
        <a:bodyPr/>
        <a:lstStyle/>
        <a:p>
          <a:endParaRPr lang="en-US"/>
        </a:p>
      </dgm:t>
    </dgm:pt>
    <dgm:pt modelId="{0A373FCB-35C6-4CD5-ADE7-5A778D982171}" cxnId="{954B9177-9298-4EA5-A37D-9CACFF32334C}" type="sibTrans">
      <dgm:prSet/>
      <dgm:spPr/>
      <dgm:t>
        <a:bodyPr/>
        <a:lstStyle/>
        <a:p>
          <a:endParaRPr lang="en-US"/>
        </a:p>
      </dgm:t>
    </dgm:pt>
    <dgm:pt modelId="{BF6D18C5-CE76-5047-AC26-83D573811973}" type="pres">
      <dgm:prSet presAssocID="{53C61AFD-BF02-4CEA-8BC5-45076E5F983B}" presName="linear" presStyleCnt="0">
        <dgm:presLayoutVars>
          <dgm:dir/>
          <dgm:animLvl val="lvl"/>
          <dgm:resizeHandles val="exact"/>
        </dgm:presLayoutVars>
      </dgm:prSet>
      <dgm:spPr/>
    </dgm:pt>
    <dgm:pt modelId="{FE7E5729-1420-3046-A05C-A0F61D91C497}" type="pres">
      <dgm:prSet presAssocID="{EB5BBAB7-0BE4-47BF-ADA1-D7A6CB7383DA}" presName="parentLin" presStyleCnt="0"/>
      <dgm:spPr/>
    </dgm:pt>
    <dgm:pt modelId="{04BEF436-76D4-DD43-AF38-81215E71F517}" type="pres">
      <dgm:prSet presAssocID="{EB5BBAB7-0BE4-47BF-ADA1-D7A6CB7383DA}" presName="parentLeftMargin" presStyleCnt="0"/>
      <dgm:spPr/>
    </dgm:pt>
    <dgm:pt modelId="{75033B60-58AB-3D42-B6F2-B5729337FCA0}" type="pres">
      <dgm:prSet presAssocID="{EB5BBAB7-0BE4-47BF-ADA1-D7A6CB7383DA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7F9BFAA0-2091-334F-9D8A-3F57078568E2}" type="pres">
      <dgm:prSet presAssocID="{EB5BBAB7-0BE4-47BF-ADA1-D7A6CB7383DA}" presName="negativeSpace" presStyleCnt="0"/>
      <dgm:spPr/>
    </dgm:pt>
    <dgm:pt modelId="{69FC335D-5D8C-0844-8105-C9CA909C37D4}" type="pres">
      <dgm:prSet presAssocID="{EB5BBAB7-0BE4-47BF-ADA1-D7A6CB7383DA}" presName="childText" presStyleLbl="conFgAcc1" presStyleIdx="0" presStyleCnt="2">
        <dgm:presLayoutVars>
          <dgm:bulletEnabled val="1"/>
        </dgm:presLayoutVars>
      </dgm:prSet>
      <dgm:spPr/>
    </dgm:pt>
    <dgm:pt modelId="{C8D89F54-E658-A74D-BEC8-3EABA66B1385}" type="pres">
      <dgm:prSet presAssocID="{190A2223-7014-42C9-BAFD-EA733D5391E1}" presName="spaceBetweenRectangles" presStyleCnt="0"/>
      <dgm:spPr/>
    </dgm:pt>
    <dgm:pt modelId="{8B768019-6F58-6644-A28C-DBB1B19E9692}" type="pres">
      <dgm:prSet presAssocID="{DFFB2F7D-E3AD-4D75-9080-DE16D509EF7B}" presName="parentLin" presStyleCnt="0"/>
      <dgm:spPr/>
    </dgm:pt>
    <dgm:pt modelId="{5E351FF4-20C9-2940-A566-0DDBD98199A9}" type="pres">
      <dgm:prSet presAssocID="{DFFB2F7D-E3AD-4D75-9080-DE16D509EF7B}" presName="parentLeftMargin" presStyleCnt="0"/>
      <dgm:spPr/>
    </dgm:pt>
    <dgm:pt modelId="{73E0C5FE-C3E8-184A-98F9-2C4871630BEE}" type="pres">
      <dgm:prSet presAssocID="{DFFB2F7D-E3AD-4D75-9080-DE16D509EF7B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094EFAF-8FF9-9246-BC63-10D27C2C2455}" type="pres">
      <dgm:prSet presAssocID="{DFFB2F7D-E3AD-4D75-9080-DE16D509EF7B}" presName="negativeSpace" presStyleCnt="0"/>
      <dgm:spPr/>
    </dgm:pt>
    <dgm:pt modelId="{9439D4AF-B75A-CE48-BB03-CD98C1E5656B}" type="pres">
      <dgm:prSet presAssocID="{DFFB2F7D-E3AD-4D75-9080-DE16D509EF7B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0BCEC63-491A-421E-A49F-2494622A5435}" srcId="{53C61AFD-BF02-4CEA-8BC5-45076E5F983B}" destId="{EB5BBAB7-0BE4-47BF-ADA1-D7A6CB7383DA}" srcOrd="0" destOrd="0" parTransId="{EF3298D2-831F-46B7-80F9-A7A506C6D7BB}" sibTransId="{190A2223-7014-42C9-BAFD-EA733D5391E1}"/>
    <dgm:cxn modelId="{B6FC03CF-0718-4084-AC96-A56C12249744}" srcId="{EB5BBAB7-0BE4-47BF-ADA1-D7A6CB7383DA}" destId="{F91952BC-5703-4DF9-8022-A78FD4AADE09}" srcOrd="0" destOrd="0" parTransId="{8CA28267-75A8-4BF6-A2F8-60ACABC07CE2}" sibTransId="{0868423C-CC63-4AEE-B611-22FF95B5DDC9}"/>
    <dgm:cxn modelId="{A00FB372-34F5-4D13-BF51-77F7993E2665}" srcId="{EB5BBAB7-0BE4-47BF-ADA1-D7A6CB7383DA}" destId="{2AA60B37-9D95-44FD-AA2B-FA26A542C3B9}" srcOrd="1" destOrd="0" parTransId="{C73681AC-2BCE-4A8D-A65E-19A98932E76B}" sibTransId="{768D4C53-426C-4E6E-8FE2-3D213D9A2672}"/>
    <dgm:cxn modelId="{20F856D2-75AA-4F77-A297-2A27CC571DFD}" srcId="{53C61AFD-BF02-4CEA-8BC5-45076E5F983B}" destId="{DFFB2F7D-E3AD-4D75-9080-DE16D509EF7B}" srcOrd="1" destOrd="0" parTransId="{98FE4A24-4E70-40AD-AA3C-9E599280E4B2}" sibTransId="{60DDC569-18AB-4DD7-9271-6D78F4C44FF3}"/>
    <dgm:cxn modelId="{954B9177-9298-4EA5-A37D-9CACFF32334C}" srcId="{DFFB2F7D-E3AD-4D75-9080-DE16D509EF7B}" destId="{7106390C-1EC2-42A5-B33B-4ECE2F3C9402}" srcOrd="0" destOrd="1" parTransId="{4D323E42-EE8C-4B12-B508-7913A9028CCE}" sibTransId="{0A373FCB-35C6-4CD5-ADE7-5A778D982171}"/>
    <dgm:cxn modelId="{DEC540FA-341C-4383-AE7F-783DC8864515}" type="presOf" srcId="{53C61AFD-BF02-4CEA-8BC5-45076E5F983B}" destId="{BF6D18C5-CE76-5047-AC26-83D573811973}" srcOrd="0" destOrd="0" presId="urn:microsoft.com/office/officeart/2005/8/layout/list1"/>
    <dgm:cxn modelId="{24FB8171-BE75-42A8-AD85-489C714B484A}" type="presParOf" srcId="{BF6D18C5-CE76-5047-AC26-83D573811973}" destId="{FE7E5729-1420-3046-A05C-A0F61D91C497}" srcOrd="0" destOrd="0" presId="urn:microsoft.com/office/officeart/2005/8/layout/list1"/>
    <dgm:cxn modelId="{C668D5A3-DED2-4CDC-AA5D-E2574E64D148}" type="presParOf" srcId="{FE7E5729-1420-3046-A05C-A0F61D91C497}" destId="{04BEF436-76D4-DD43-AF38-81215E71F517}" srcOrd="0" destOrd="0" presId="urn:microsoft.com/office/officeart/2005/8/layout/list1"/>
    <dgm:cxn modelId="{74C6DF29-5980-4E5C-ADB6-7C992CF1ECA7}" type="presOf" srcId="{EB5BBAB7-0BE4-47BF-ADA1-D7A6CB7383DA}" destId="{04BEF436-76D4-DD43-AF38-81215E71F517}" srcOrd="0" destOrd="0" presId="urn:microsoft.com/office/officeart/2005/8/layout/list1"/>
    <dgm:cxn modelId="{E47E7463-6D54-4A53-B1C7-2493BB852AFB}" type="presParOf" srcId="{FE7E5729-1420-3046-A05C-A0F61D91C497}" destId="{75033B60-58AB-3D42-B6F2-B5729337FCA0}" srcOrd="1" destOrd="0" presId="urn:microsoft.com/office/officeart/2005/8/layout/list1"/>
    <dgm:cxn modelId="{132B5594-3ABA-42D0-B0A4-F66F6F9A02D7}" type="presOf" srcId="{EB5BBAB7-0BE4-47BF-ADA1-D7A6CB7383DA}" destId="{75033B60-58AB-3D42-B6F2-B5729337FCA0}" srcOrd="0" destOrd="0" presId="urn:microsoft.com/office/officeart/2005/8/layout/list1"/>
    <dgm:cxn modelId="{052903F6-894C-4E3D-89C8-EFC66F4DB618}" type="presParOf" srcId="{BF6D18C5-CE76-5047-AC26-83D573811973}" destId="{7F9BFAA0-2091-334F-9D8A-3F57078568E2}" srcOrd="1" destOrd="0" presId="urn:microsoft.com/office/officeart/2005/8/layout/list1"/>
    <dgm:cxn modelId="{82B905DF-990D-428C-812E-34BDB5ED580F}" type="presParOf" srcId="{BF6D18C5-CE76-5047-AC26-83D573811973}" destId="{69FC335D-5D8C-0844-8105-C9CA909C37D4}" srcOrd="2" destOrd="0" presId="urn:microsoft.com/office/officeart/2005/8/layout/list1"/>
    <dgm:cxn modelId="{91CA122F-7BC2-4116-9139-B8DC7644C071}" type="presOf" srcId="{F91952BC-5703-4DF9-8022-A78FD4AADE09}" destId="{69FC335D-5D8C-0844-8105-C9CA909C37D4}" srcOrd="0" destOrd="0" presId="urn:microsoft.com/office/officeart/2005/8/layout/list1"/>
    <dgm:cxn modelId="{4EDC2BEA-CDF4-418E-81DC-177C5A0579A3}" type="presOf" srcId="{2AA60B37-9D95-44FD-AA2B-FA26A542C3B9}" destId="{69FC335D-5D8C-0844-8105-C9CA909C37D4}" srcOrd="0" destOrd="1" presId="urn:microsoft.com/office/officeart/2005/8/layout/list1"/>
    <dgm:cxn modelId="{70584E86-01CE-487D-B586-9BD8EC223F51}" type="presParOf" srcId="{BF6D18C5-CE76-5047-AC26-83D573811973}" destId="{C8D89F54-E658-A74D-BEC8-3EABA66B1385}" srcOrd="3" destOrd="0" presId="urn:microsoft.com/office/officeart/2005/8/layout/list1"/>
    <dgm:cxn modelId="{C1C839AF-B703-4BD7-9023-514E946E9C3A}" type="presParOf" srcId="{BF6D18C5-CE76-5047-AC26-83D573811973}" destId="{8B768019-6F58-6644-A28C-DBB1B19E9692}" srcOrd="4" destOrd="0" presId="urn:microsoft.com/office/officeart/2005/8/layout/list1"/>
    <dgm:cxn modelId="{8A9045B0-B806-42A0-9894-64AFDD6442C7}" type="presParOf" srcId="{8B768019-6F58-6644-A28C-DBB1B19E9692}" destId="{5E351FF4-20C9-2940-A566-0DDBD98199A9}" srcOrd="0" destOrd="4" presId="urn:microsoft.com/office/officeart/2005/8/layout/list1"/>
    <dgm:cxn modelId="{6C000174-0D09-4481-9921-C1ED492A09D6}" type="presOf" srcId="{DFFB2F7D-E3AD-4D75-9080-DE16D509EF7B}" destId="{5E351FF4-20C9-2940-A566-0DDBD98199A9}" srcOrd="0" destOrd="0" presId="urn:microsoft.com/office/officeart/2005/8/layout/list1"/>
    <dgm:cxn modelId="{FC5A21D4-DE0A-48A1-BA52-AC8172A1D166}" type="presParOf" srcId="{8B768019-6F58-6644-A28C-DBB1B19E9692}" destId="{73E0C5FE-C3E8-184A-98F9-2C4871630BEE}" srcOrd="1" destOrd="4" presId="urn:microsoft.com/office/officeart/2005/8/layout/list1"/>
    <dgm:cxn modelId="{892862CA-77DC-4339-B78B-B99181582B9C}" type="presOf" srcId="{DFFB2F7D-E3AD-4D75-9080-DE16D509EF7B}" destId="{73E0C5FE-C3E8-184A-98F9-2C4871630BEE}" srcOrd="0" destOrd="0" presId="urn:microsoft.com/office/officeart/2005/8/layout/list1"/>
    <dgm:cxn modelId="{EE400BB2-3381-491C-B816-5465108127D1}" type="presParOf" srcId="{BF6D18C5-CE76-5047-AC26-83D573811973}" destId="{E094EFAF-8FF9-9246-BC63-10D27C2C2455}" srcOrd="5" destOrd="0" presId="urn:microsoft.com/office/officeart/2005/8/layout/list1"/>
    <dgm:cxn modelId="{054AFA89-80BA-48FE-BE1C-DC64AFA2FFDC}" type="presParOf" srcId="{BF6D18C5-CE76-5047-AC26-83D573811973}" destId="{9439D4AF-B75A-CE48-BB03-CD98C1E5656B}" srcOrd="6" destOrd="0" presId="urn:microsoft.com/office/officeart/2005/8/layout/list1"/>
    <dgm:cxn modelId="{4E35C39B-892F-4BA5-BC27-C42DBCB01C8C}" type="presOf" srcId="{7106390C-1EC2-42A5-B33B-4ECE2F3C9402}" destId="{9439D4AF-B75A-CE48-BB03-CD98C1E5656B}" srcOrd="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FC335D-5D8C-0844-8105-C9CA909C37D4}">
      <dsp:nvSpPr>
        <dsp:cNvPr id="0" name=""/>
        <dsp:cNvSpPr/>
      </dsp:nvSpPr>
      <dsp:spPr>
        <a:xfrm>
          <a:off x="0" y="606077"/>
          <a:ext cx="5135292" cy="1811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8556" tIns="479044" rIns="398556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sz="2300" kern="1200"/>
            <a:t>通过抓包，整理用户角度触发路径较短的接口，并与开发方核对。</a:t>
          </a:r>
          <a:endParaRPr lang="en-US" sz="2300" kern="120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sz="2300" kern="1200"/>
            <a:t>梳理结果：抓包准确性不理想。</a:t>
          </a:r>
          <a:endParaRPr lang="en-US" sz="2300" kern="1200"/>
        </a:p>
      </dsp:txBody>
      <dsp:txXfrm>
        <a:off x="0" y="606077"/>
        <a:ext cx="5135292" cy="1811250"/>
      </dsp:txXfrm>
    </dsp:sp>
    <dsp:sp modelId="{75033B60-58AB-3D42-B6F2-B5729337FCA0}">
      <dsp:nvSpPr>
        <dsp:cNvPr id="0" name=""/>
        <dsp:cNvSpPr/>
      </dsp:nvSpPr>
      <dsp:spPr>
        <a:xfrm>
          <a:off x="256764" y="266597"/>
          <a:ext cx="3594705" cy="678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871" tIns="0" rIns="135871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CN" sz="2300" kern="1200"/>
            <a:t>接口梳理方案</a:t>
          </a:r>
          <a:endParaRPr lang="en-US" sz="2300" kern="1200"/>
        </a:p>
      </dsp:txBody>
      <dsp:txXfrm>
        <a:off x="289908" y="299741"/>
        <a:ext cx="3528417" cy="612672"/>
      </dsp:txXfrm>
    </dsp:sp>
    <dsp:sp modelId="{9439D4AF-B75A-CE48-BB03-CD98C1E5656B}">
      <dsp:nvSpPr>
        <dsp:cNvPr id="0" name=""/>
        <dsp:cNvSpPr/>
      </dsp:nvSpPr>
      <dsp:spPr>
        <a:xfrm>
          <a:off x="0" y="2881007"/>
          <a:ext cx="5135292" cy="21010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8556" tIns="479044" rIns="398556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sz="2300" kern="1200"/>
            <a:t>原因</a:t>
          </a:r>
          <a:r>
            <a:rPr kumimoji="1" lang="en-US" sz="2300" kern="1200"/>
            <a:t>:</a:t>
          </a:r>
          <a:r>
            <a:rPr kumimoji="1" lang="zh-CN" sz="2300" kern="1200"/>
            <a:t>  </a:t>
          </a:r>
          <a:r>
            <a:rPr kumimoji="1" lang="en-US" sz="2300" kern="1200"/>
            <a:t>app</a:t>
          </a:r>
          <a:r>
            <a:rPr kumimoji="1" lang="zh-CN" sz="2300" kern="1200"/>
            <a:t>做过防代理抓包处理，且部分</a:t>
          </a:r>
          <a:r>
            <a:rPr kumimoji="1" lang="en-US" sz="2300" kern="1200"/>
            <a:t>API</a:t>
          </a:r>
          <a:r>
            <a:rPr kumimoji="1" lang="zh-CN" sz="2300" kern="1200"/>
            <a:t>调用被封装，无法直接通过</a:t>
          </a:r>
          <a:r>
            <a:rPr kumimoji="1" lang="en-US" sz="2300" kern="1200"/>
            <a:t>charles</a:t>
          </a:r>
          <a:r>
            <a:rPr kumimoji="1" lang="zh-CN" sz="2300" kern="1200"/>
            <a:t>等抓包软件截取</a:t>
          </a:r>
          <a:r>
            <a:rPr kumimoji="1" lang="en-US" sz="2300" kern="1200"/>
            <a:t>http</a:t>
          </a:r>
          <a:r>
            <a:rPr kumimoji="1" lang="zh-CN" sz="2300" kern="1200"/>
            <a:t>请求。</a:t>
          </a:r>
          <a:endParaRPr lang="en-US" sz="2300" kern="1200"/>
        </a:p>
      </dsp:txBody>
      <dsp:txXfrm>
        <a:off x="0" y="2881007"/>
        <a:ext cx="5135292" cy="2101050"/>
      </dsp:txXfrm>
    </dsp:sp>
    <dsp:sp modelId="{73E0C5FE-C3E8-184A-98F9-2C4871630BEE}">
      <dsp:nvSpPr>
        <dsp:cNvPr id="0" name=""/>
        <dsp:cNvSpPr/>
      </dsp:nvSpPr>
      <dsp:spPr>
        <a:xfrm>
          <a:off x="256764" y="2541528"/>
          <a:ext cx="3594705" cy="678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871" tIns="0" rIns="135871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CN" sz="2300" kern="1200"/>
            <a:t>定位原因</a:t>
          </a:r>
          <a:endParaRPr lang="en-US" sz="2300" kern="1200"/>
        </a:p>
      </dsp:txBody>
      <dsp:txXfrm>
        <a:off x="289908" y="2574672"/>
        <a:ext cx="3528417" cy="6126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nodeHorzAlign" val="l"/>
          <dgm:param type="horzAlign" val="l"/>
        </dgm:alg>
      </dgm:if>
      <dgm:else name="Name2">
        <dgm:alg type="lin">
          <dgm:param type="linDir" val="fromT"/>
          <dgm:param type="vertAlign" val="mid"/>
          <dgm:param type="nodeHorzAlign" val="r"/>
          <dgm:param type="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nodeHorzAlign" val="l"/>
              <dgm:param type="horzAlign" val="l"/>
            </dgm:alg>
          </dgm:if>
          <dgm:else name="Name6">
            <dgm:alg type="lin">
              <dgm:param type="linDir" val="fromR"/>
              <dgm:param type="nodeHorzAlign" val="r"/>
              <dgm:param type="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3BA49-6A69-CE49-AA12-691E61A9F13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47ADAC-F727-DF42-84A1-53F383BC088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第三方研发进度有限，针对后面开展的测试活动进行了一次通气会；</a:t>
            </a:r>
            <a:endParaRPr kumimoji="1" lang="zh-CN" altLang="en-US" dirty="0"/>
          </a:p>
          <a:p>
            <a:r>
              <a:rPr kumimoji="1" lang="en-US" altLang="zh-CN" dirty="0"/>
              <a:t>QA</a:t>
            </a:r>
            <a:r>
              <a:rPr kumimoji="1" lang="zh-CN" altLang="en-US" dirty="0"/>
              <a:t>首次接触、询问业务链路，</a:t>
            </a:r>
            <a:r>
              <a:rPr kumimoji="1" lang="en-US" altLang="zh-CN" dirty="0"/>
              <a:t>  </a:t>
            </a:r>
            <a:r>
              <a:rPr kumimoji="1" lang="zh-CN" altLang="en-US" dirty="0"/>
              <a:t>得到需求，</a:t>
            </a:r>
            <a:r>
              <a:rPr kumimoji="1" lang="en-US" altLang="zh-CN" dirty="0"/>
              <a:t>  </a:t>
            </a:r>
            <a:r>
              <a:rPr kumimoji="1" lang="zh-CN" altLang="en-US" dirty="0"/>
              <a:t>补充背景</a:t>
            </a:r>
            <a:endParaRPr kumimoji="1" lang="zh-CN" altLang="en-US" dirty="0"/>
          </a:p>
          <a:p>
            <a:endParaRPr kumimoji="1" lang="zh-CN" altLang="en-US" dirty="0"/>
          </a:p>
          <a:p>
            <a:r>
              <a:rPr kumimoji="1" lang="zh-CN" altLang="en-US" dirty="0"/>
              <a:t>询问压测使用数据的来源（由</a:t>
            </a:r>
            <a:r>
              <a:rPr kumimoji="1" lang="en-US" altLang="zh-CN" dirty="0"/>
              <a:t>dmp</a:t>
            </a:r>
            <a:r>
              <a:rPr kumimoji="1" lang="zh-CN" altLang="en-US" dirty="0"/>
              <a:t>提供）</a:t>
            </a:r>
            <a:endParaRPr kumimoji="1" lang="zh-CN" altLang="en-US" dirty="0"/>
          </a:p>
          <a:p>
            <a:r>
              <a:rPr kumimoji="1" lang="zh-CN" altLang="en-US" dirty="0"/>
              <a:t>询问压测使用环境</a:t>
            </a:r>
            <a:endParaRPr kumimoji="1" lang="zh-CN" altLang="en-US" dirty="0"/>
          </a:p>
          <a:p>
            <a:endParaRPr kumimoji="1" lang="zh-CN" altLang="en-US" dirty="0"/>
          </a:p>
          <a:p>
            <a:endParaRPr kumimoji="1" lang="en-US" altLang="zh-CN" dirty="0"/>
          </a:p>
          <a:p>
            <a:r>
              <a:rPr kumimoji="1" lang="zh-CN" altLang="en-US" dirty="0"/>
              <a:t>问题：此时没有接口文档，研发方也提供不了。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故产生遗留问题，需要梳理接口目录</a:t>
            </a:r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为何梳理初期没了解：</a:t>
            </a:r>
            <a:r>
              <a:rPr kumimoji="1" lang="en-US" altLang="zh-CN" dirty="0"/>
              <a:t> </a:t>
            </a:r>
            <a:r>
              <a:rPr kumimoji="1" lang="zh-CN" altLang="en-US" dirty="0"/>
              <a:t>沟通时效长，所以工作前置。</a:t>
            </a:r>
            <a:endParaRPr kumimoji="1" lang="zh-CN" altLang="en-US" dirty="0"/>
          </a:p>
          <a:p>
            <a:endParaRPr kumimoji="1" lang="zh-CN" altLang="en-US" dirty="0"/>
          </a:p>
          <a:p>
            <a:endParaRPr kumimoji="1" lang="zh-CN" altLang="en-US" dirty="0"/>
          </a:p>
          <a:p>
            <a:r>
              <a:rPr kumimoji="1" lang="zh-CN" altLang="en-US" dirty="0"/>
              <a:t>原计划：梳理后</a:t>
            </a:r>
            <a:r>
              <a:rPr kumimoji="1" lang="en-US" altLang="zh-CN" dirty="0"/>
              <a:t> </a:t>
            </a:r>
            <a:r>
              <a:rPr kumimoji="1" lang="zh-CN" altLang="en-US" dirty="0"/>
              <a:t>和研发进行核对。</a:t>
            </a:r>
            <a:r>
              <a:rPr kumimoji="1" lang="en-US" altLang="zh-CN" dirty="0"/>
              <a:t>  </a:t>
            </a:r>
            <a:endParaRPr kumimoji="1" lang="en-US" altLang="zh-CN" dirty="0"/>
          </a:p>
          <a:p>
            <a:endParaRPr kumimoji="1" lang="zh-CN" altLang="en-US" dirty="0"/>
          </a:p>
          <a:p>
            <a:r>
              <a:rPr kumimoji="1" lang="zh-CN" altLang="en-US" dirty="0"/>
              <a:t>小结一下：</a:t>
            </a:r>
            <a:r>
              <a:rPr kumimoji="1" lang="en-US" altLang="zh-CN" dirty="0"/>
              <a:t> </a:t>
            </a:r>
            <a:r>
              <a:rPr kumimoji="1" lang="zh-CN" altLang="en-US" dirty="0"/>
              <a:t>压测前要取得完整准确的接口文档，</a:t>
            </a:r>
            <a:r>
              <a:rPr kumimoji="1" lang="en-US" altLang="zh-CN" dirty="0"/>
              <a:t>   </a:t>
            </a:r>
            <a:r>
              <a:rPr kumimoji="1" lang="zh-CN" altLang="en-US" dirty="0"/>
              <a:t>否则耽误时间。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影响： </a:t>
            </a:r>
            <a:r>
              <a:rPr kumimoji="1" lang="en-GB" altLang="zh-CN" dirty="0"/>
              <a:t>App</a:t>
            </a:r>
            <a:r>
              <a:rPr kumimoji="1" lang="zh-CN" altLang="en-US" dirty="0"/>
              <a:t>获取玩家游戏数据的方式需要做大规模调整，造成了时间线整体后移，接口梳理不理想并未影响到项目进度。</a:t>
            </a:r>
            <a:endParaRPr kumimoji="1" lang="zh-CN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说一下既定的压测流程：</a:t>
            </a:r>
            <a:endParaRPr kumimoji="1" lang="zh-CN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先功能、再性能</a:t>
            </a:r>
            <a:endParaRPr kumimoji="1" lang="zh-CN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业务逻辑调整</a:t>
            </a:r>
            <a:r>
              <a:rPr kumimoji="1" lang="en-US" altLang="zh-CN" dirty="0"/>
              <a:t>——</a:t>
            </a:r>
            <a:r>
              <a:rPr kumimoji="1" lang="zh-CN" altLang="en-US" dirty="0"/>
              <a:t>功能调整</a:t>
            </a:r>
            <a:r>
              <a:rPr kumimoji="1" lang="en-US" altLang="zh-CN" dirty="0"/>
              <a:t>——</a:t>
            </a:r>
            <a:r>
              <a:rPr kumimoji="1" lang="zh-CN" altLang="en-US" dirty="0"/>
              <a:t>功能重测</a:t>
            </a:r>
            <a:r>
              <a:rPr kumimoji="1" lang="en-US" altLang="zh-CN" dirty="0"/>
              <a:t>——</a:t>
            </a:r>
            <a:r>
              <a:rPr kumimoji="1" lang="zh-CN" altLang="en-US" dirty="0"/>
              <a:t>等待压测推迟了若干个月</a:t>
            </a:r>
            <a:endParaRPr kumimoji="1" lang="zh-CN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br>
              <a:rPr kumimoji="1" lang="en-US" altLang="zh-CN" dirty="0"/>
            </a:br>
            <a:br>
              <a:rPr kumimoji="1" lang="en-US" altLang="zh-CN" dirty="0"/>
            </a:br>
            <a:r>
              <a:rPr kumimoji="1" lang="zh-CN" altLang="en-US" dirty="0"/>
              <a:t>后续：等待开发完成，功能测试结束，代码封版</a:t>
            </a:r>
            <a:r>
              <a:rPr kumimoji="1" lang="en-US" altLang="zh-CN" dirty="0"/>
              <a:t> </a:t>
            </a:r>
            <a:r>
              <a:rPr kumimoji="1" lang="zh-CN" altLang="en-US" dirty="0"/>
              <a:t>提测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d99</a:t>
            </a:r>
            <a:r>
              <a:rPr kumimoji="1" lang="zh-CN" altLang="en-US" dirty="0"/>
              <a:t>有了完整的接口文档</a:t>
            </a:r>
            <a:endParaRPr kumimoji="1" lang="zh-CN" altLang="en-US" dirty="0"/>
          </a:p>
          <a:p>
            <a:endParaRPr kumimoji="1" lang="zh-CN" altLang="en-US" dirty="0"/>
          </a:p>
          <a:p>
            <a:r>
              <a:rPr kumimoji="1" lang="en-US" altLang="zh-CN" dirty="0"/>
              <a:t>dmp</a:t>
            </a:r>
            <a:r>
              <a:rPr kumimoji="1" lang="zh-CN" altLang="en-US" dirty="0"/>
              <a:t>新增了查询接口（说一下作用）</a:t>
            </a:r>
            <a:r>
              <a:rPr kumimoji="1" lang="en-US" altLang="zh-CN" dirty="0"/>
              <a:t> </a:t>
            </a:r>
            <a:r>
              <a:rPr kumimoji="1" lang="zh-CN" altLang="en-US" dirty="0"/>
              <a:t>，</a:t>
            </a:r>
            <a:r>
              <a:rPr kumimoji="1" lang="en-US" altLang="zh-CN" dirty="0"/>
              <a:t>  </a:t>
            </a:r>
            <a:r>
              <a:rPr kumimoji="1" lang="zh-CN" altLang="en-US" dirty="0"/>
              <a:t>并提供了文档</a:t>
            </a:r>
            <a:endParaRPr kumimoji="1" lang="zh-CN" altLang="en-US" dirty="0"/>
          </a:p>
          <a:p>
            <a:endParaRPr kumimoji="1" lang="zh-CN" altLang="en-US" dirty="0"/>
          </a:p>
          <a:p>
            <a:r>
              <a:rPr kumimoji="1" lang="zh-CN" altLang="en-US" dirty="0"/>
              <a:t>接口数量太多，全部压测性价比低。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压测范围确定后 ，被压接口数量约</a:t>
            </a:r>
            <a:r>
              <a:rPr kumimoji="1" lang="en-US" altLang="zh-CN" dirty="0"/>
              <a:t>30</a:t>
            </a:r>
            <a:r>
              <a:rPr kumimoji="1" lang="zh-CN" altLang="en-US" dirty="0"/>
              <a:t>个，按</a:t>
            </a:r>
            <a:r>
              <a:rPr kumimoji="1" lang="en-US" altLang="zh-CN" dirty="0"/>
              <a:t>app</a:t>
            </a:r>
            <a:r>
              <a:rPr kumimoji="1" lang="zh-CN" altLang="en-US" dirty="0"/>
              <a:t>模块分组， 和研发进行了简单评审，确认。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/>
              <a:t>App</a:t>
            </a:r>
            <a:r>
              <a:rPr kumimoji="1" lang="zh-CN" altLang="en-US" dirty="0"/>
              <a:t> 计划有限投放。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dirty="0"/>
              <a:t>部分接口极易使</a:t>
            </a:r>
            <a:r>
              <a:rPr kumimoji="1" lang="en-US" altLang="zh-CN" dirty="0"/>
              <a:t>DB</a:t>
            </a:r>
            <a:r>
              <a:rPr kumimoji="1" lang="zh-CN" altLang="en-US" dirty="0"/>
              <a:t>的</a:t>
            </a:r>
            <a:r>
              <a:rPr kumimoji="1" lang="en-US" altLang="zh-CN" dirty="0"/>
              <a:t>cpu</a:t>
            </a:r>
            <a:r>
              <a:rPr kumimoji="1" lang="zh-CN" altLang="en-US" dirty="0"/>
              <a:t>使用激增至</a:t>
            </a:r>
            <a:r>
              <a:rPr kumimoji="1" lang="en-US" altLang="zh-CN" dirty="0"/>
              <a:t>100%</a:t>
            </a:r>
            <a:r>
              <a:rPr kumimoji="1" lang="zh-CN" altLang="en-US" dirty="0"/>
              <a:t>，</a:t>
            </a:r>
            <a:r>
              <a:rPr kumimoji="1" lang="en-US" altLang="zh-CN" dirty="0"/>
              <a:t>     </a:t>
            </a:r>
            <a:r>
              <a:rPr kumimoji="1" lang="zh-CN" altLang="en-US" dirty="0"/>
              <a:t>应用本身也是</a:t>
            </a:r>
            <a:endParaRPr kumimoji="1" lang="zh-CN" altLang="en-US" dirty="0"/>
          </a:p>
          <a:p>
            <a:endParaRPr kumimoji="1" lang="zh-CN" altLang="en-US" dirty="0"/>
          </a:p>
          <a:p>
            <a:r>
              <a:rPr kumimoji="1" lang="zh-CN" altLang="en-US" dirty="0"/>
              <a:t>查找问题接口：</a:t>
            </a:r>
            <a:endParaRPr kumimoji="1" lang="zh-CN" altLang="en-US" dirty="0"/>
          </a:p>
          <a:p>
            <a:r>
              <a:rPr kumimoji="1" lang="zh-CN" altLang="en-US" dirty="0"/>
              <a:t>分组，二分法，直到定位到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最后定位到：</a:t>
            </a:r>
            <a:r>
              <a:rPr kumimoji="1" lang="en-US" altLang="zh-CN" dirty="0"/>
              <a:t> </a:t>
            </a:r>
            <a:endParaRPr kumimoji="1" lang="en-US" altLang="zh-CN" dirty="0"/>
          </a:p>
          <a:p>
            <a:r>
              <a:rPr kumimoji="1" lang="en-US" altLang="zh-CN" dirty="0"/>
              <a:t>D99</a:t>
            </a:r>
            <a:r>
              <a:rPr kumimoji="1" lang="zh-CN" altLang="en-US" dirty="0"/>
              <a:t>方</a:t>
            </a:r>
            <a:r>
              <a:rPr kumimoji="1" lang="en-US" altLang="zh-CN" dirty="0"/>
              <a:t>3</a:t>
            </a:r>
            <a:r>
              <a:rPr kumimoji="1" lang="zh-CN" altLang="en-US" dirty="0"/>
              <a:t>个极慢接口</a:t>
            </a:r>
            <a:r>
              <a:rPr kumimoji="1" lang="en-US" altLang="zh-CN" dirty="0"/>
              <a:t>     </a:t>
            </a:r>
            <a:endParaRPr kumimoji="1" lang="en-US" altLang="zh-CN" dirty="0"/>
          </a:p>
          <a:p>
            <a:r>
              <a:rPr kumimoji="1" lang="en-US" altLang="zh-CN" dirty="0"/>
              <a:t>DMP</a:t>
            </a:r>
            <a:r>
              <a:rPr kumimoji="1" lang="zh-CN" altLang="en-US" dirty="0"/>
              <a:t>新研发的个别接口并发情况下有报错</a:t>
            </a:r>
            <a:endParaRPr kumimoji="1" lang="zh-CN" altLang="en-US" dirty="0"/>
          </a:p>
          <a:p>
            <a:endParaRPr kumimoji="1" lang="zh-CN" altLang="en-US" dirty="0"/>
          </a:p>
          <a:p>
            <a:r>
              <a:rPr kumimoji="1" lang="zh-CN" altLang="en-US" dirty="0"/>
              <a:t>反馈</a:t>
            </a:r>
            <a:r>
              <a:rPr kumimoji="1" lang="en-US" altLang="zh-CN" dirty="0"/>
              <a:t> </a:t>
            </a:r>
            <a:r>
              <a:rPr kumimoji="1" lang="zh-CN" altLang="en-US" dirty="0"/>
              <a:t>等待修改</a:t>
            </a:r>
            <a:endParaRPr kumimoji="1" lang="zh-CN" altLang="en-US" dirty="0"/>
          </a:p>
          <a:p>
            <a:endParaRPr kumimoji="1" lang="zh-CN" altLang="en-US" dirty="0"/>
          </a:p>
          <a:p>
            <a:r>
              <a:rPr kumimoji="1" lang="zh-CN" altLang="en-US" dirty="0"/>
              <a:t>一阶段压测结束。</a:t>
            </a:r>
            <a:endParaRPr kumimoji="1" lang="en-US" altLang="zh-CN" dirty="0"/>
          </a:p>
          <a:p>
            <a:r>
              <a:rPr kumimoji="1" lang="zh-CN" altLang="en-US" dirty="0"/>
              <a:t>结论：</a:t>
            </a:r>
            <a:r>
              <a:rPr kumimoji="1" lang="en-US" altLang="zh-CN" dirty="0"/>
              <a:t> </a:t>
            </a:r>
            <a:r>
              <a:rPr kumimoji="1" lang="zh-CN" altLang="en-US" dirty="0"/>
              <a:t>接口性能不达标，没有达到预期，</a:t>
            </a:r>
            <a:r>
              <a:rPr kumimoji="1" lang="en-US" altLang="zh-CN" dirty="0"/>
              <a:t> </a:t>
            </a:r>
            <a:r>
              <a:rPr kumimoji="1" lang="zh-CN" altLang="en-US" dirty="0"/>
              <a:t>需优化</a:t>
            </a:r>
            <a:r>
              <a:rPr kumimoji="1" lang="en-US" altLang="zh-CN" dirty="0"/>
              <a:t>sql</a:t>
            </a:r>
            <a:r>
              <a:rPr kumimoji="1" lang="zh-CN" altLang="en-US" dirty="0"/>
              <a:t>部分逻辑。</a:t>
            </a:r>
            <a:endParaRPr kumimoji="1" lang="zh-CN" altLang="en-US" dirty="0"/>
          </a:p>
          <a:p>
            <a:endParaRPr kumimoji="1" lang="zh-CN" altLang="en-US" dirty="0"/>
          </a:p>
          <a:p>
            <a:r>
              <a:rPr kumimoji="1" lang="zh-CN" altLang="en-US" dirty="0"/>
              <a:t>若上线则极大几率造成</a:t>
            </a:r>
            <a:r>
              <a:rPr kumimoji="1" lang="en-US" altLang="zh-CN" dirty="0"/>
              <a:t>D99 app </a:t>
            </a:r>
            <a:r>
              <a:rPr kumimoji="1" lang="zh-CN" altLang="en-US" dirty="0"/>
              <a:t>工作异常。</a:t>
            </a:r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根据压测结果，和客观情况评估，原</a:t>
            </a:r>
            <a:r>
              <a:rPr lang="en-US" altLang="zh-CN"/>
              <a:t>D99 app</a:t>
            </a:r>
            <a:r>
              <a:rPr lang="zh-CN" altLang="en-US"/>
              <a:t>方案达不到交付要求，废弃。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产品中心负责重新设计开发（阿正写的）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DMP</a:t>
            </a:r>
            <a:r>
              <a:rPr lang="zh-CN" altLang="en-US"/>
              <a:t>接口优化后等待接入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检验目的；</a:t>
            </a:r>
            <a:br>
              <a:rPr lang="zh-CN" altLang="en-US"/>
            </a:br>
            <a:r>
              <a:rPr lang="en-US" altLang="zh-CN"/>
              <a:t>DMP</a:t>
            </a:r>
            <a:r>
              <a:rPr lang="zh-CN" altLang="en-US"/>
              <a:t>报错接口是否存在</a:t>
            </a:r>
            <a:endParaRPr lang="zh-CN" altLang="en-US"/>
          </a:p>
          <a:p>
            <a:r>
              <a:rPr lang="zh-CN" altLang="en-US"/>
              <a:t>是否有性能短板</a:t>
            </a:r>
            <a:endParaRPr lang="zh-CN" altLang="en-US"/>
          </a:p>
          <a:p>
            <a:r>
              <a:rPr lang="zh-CN" altLang="en-US"/>
              <a:t>新增的缓存策略带来的性能提升</a:t>
            </a:r>
            <a:endParaRPr lang="zh-CN" altLang="en-US"/>
          </a:p>
          <a:p>
            <a:r>
              <a:rPr lang="zh-CN" altLang="en-US"/>
              <a:t>为业务方提供决策数据支撑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为什么改流程：</a:t>
            </a:r>
            <a:endParaRPr lang="zh-CN" altLang="en-US"/>
          </a:p>
          <a:p>
            <a:r>
              <a:rPr lang="zh-CN" altLang="en-US"/>
              <a:t>沟通成本相较之前降低很多，研发阶段已完成功能自测，前置压测可缩短工期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en-US" altLang="zh-CN"/>
              <a:t>DMP</a:t>
            </a:r>
            <a:r>
              <a:rPr lang="zh-CN" altLang="en-US"/>
              <a:t>使用的阿里服务存在</a:t>
            </a:r>
            <a:r>
              <a:rPr lang="en-US" altLang="zh-CN"/>
              <a:t>qps</a:t>
            </a:r>
            <a:r>
              <a:rPr lang="zh-CN" altLang="en-US"/>
              <a:t>上限，目前是</a:t>
            </a:r>
            <a:r>
              <a:rPr lang="en-US" altLang="zh-CN"/>
              <a:t>200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目标：评估优化结果，排查异常，检验现有服务是否够用</a:t>
            </a:r>
            <a:endParaRPr lang="en-US" altLang="zh-C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经过几次调整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测试结果：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无报错，</a:t>
            </a:r>
            <a:r>
              <a:rPr lang="en-US" altLang="zh-CN"/>
              <a:t>sql</a:t>
            </a:r>
            <a:r>
              <a:rPr lang="zh-CN" altLang="en-US"/>
              <a:t>优化结果达到需求，缓存策略有效，可作为需进一步改善性能的部署方案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为什么说是性能无问题？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压测结果以</a:t>
            </a:r>
            <a:r>
              <a:rPr lang="en-US" altLang="zh-CN"/>
              <a:t> cpu</a:t>
            </a:r>
            <a:r>
              <a:rPr lang="zh-CN" altLang="en-US"/>
              <a:t>使用率</a:t>
            </a:r>
            <a:r>
              <a:rPr lang="en-US" altLang="zh-CN"/>
              <a:t>85%~90</a:t>
            </a:r>
            <a:r>
              <a:rPr lang="zh-CN" altLang="en-US"/>
              <a:t>分位时的表现为准比较合适。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目前</a:t>
            </a:r>
            <a:r>
              <a:rPr lang="en-US" altLang="zh-CN"/>
              <a:t>qps</a:t>
            </a:r>
            <a:r>
              <a:rPr lang="zh-CN" altLang="en-US"/>
              <a:t>上限还无法开放，目前仅能用来验证功能、逻辑无误。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并不能说性能就一定没问题了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因为</a:t>
            </a:r>
            <a:r>
              <a:rPr lang="en-US" altLang="zh-CN"/>
              <a:t>cpu</a:t>
            </a:r>
            <a:r>
              <a:rPr lang="zh-CN" altLang="en-US"/>
              <a:t>使用率上去以后的性能表现是未知的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需要开上限后验证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之前压测都是零散的小项目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首次独立负责完整项目的压测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前期：</a:t>
            </a:r>
            <a:r>
              <a:rPr lang="en-US" altLang="zh-CN"/>
              <a:t> </a:t>
            </a:r>
            <a:r>
              <a:rPr lang="zh-CN" altLang="en-US"/>
              <a:t>知道要干什么</a:t>
            </a:r>
            <a:r>
              <a:rPr lang="en-US" altLang="zh-CN"/>
              <a:t>  </a:t>
            </a:r>
            <a:r>
              <a:rPr lang="zh-CN" altLang="en-US"/>
              <a:t>怎么干</a:t>
            </a:r>
            <a:r>
              <a:rPr lang="en-US" altLang="zh-CN"/>
              <a:t>    </a:t>
            </a:r>
            <a:r>
              <a:rPr lang="zh-CN" altLang="en-US"/>
              <a:t>干成什么样，</a:t>
            </a:r>
            <a:r>
              <a:rPr lang="en-US" altLang="zh-CN"/>
              <a:t>  </a:t>
            </a:r>
            <a:r>
              <a:rPr lang="zh-CN" altLang="en-US"/>
              <a:t>应花最多时间在分析业务链路和制定压测目标</a:t>
            </a:r>
            <a:endParaRPr lang="zh-CN" altLang="en-US"/>
          </a:p>
          <a:p>
            <a:r>
              <a:rPr lang="zh-CN" altLang="en-US"/>
              <a:t>理清链路有助</a:t>
            </a:r>
            <a:r>
              <a:rPr lang="en-US" altLang="zh-CN"/>
              <a:t> </a:t>
            </a:r>
            <a:r>
              <a:rPr lang="zh-CN" altLang="en-US"/>
              <a:t>定位问题；制定目标</a:t>
            </a:r>
            <a:r>
              <a:rPr lang="en-US" altLang="zh-CN"/>
              <a:t>   </a:t>
            </a:r>
            <a:r>
              <a:rPr lang="zh-CN" altLang="en-US"/>
              <a:t>使结果有实际价值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中期：按部就班</a:t>
            </a:r>
            <a:r>
              <a:rPr lang="en-US" altLang="zh-CN"/>
              <a:t> </a:t>
            </a:r>
            <a:r>
              <a:rPr lang="zh-CN" altLang="en-US"/>
              <a:t>，</a:t>
            </a:r>
            <a:r>
              <a:rPr lang="en-US" altLang="zh-CN"/>
              <a:t> </a:t>
            </a:r>
            <a:r>
              <a:rPr lang="zh-CN" altLang="en-US"/>
              <a:t>实际在前期工作基础上进行操作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后期：准确阐述结果，</a:t>
            </a:r>
            <a:r>
              <a:rPr lang="en-US" altLang="zh-CN"/>
              <a:t> </a:t>
            </a:r>
            <a:r>
              <a:rPr lang="zh-CN" altLang="en-US"/>
              <a:t>并提供评估意见，</a:t>
            </a:r>
            <a:r>
              <a:rPr lang="en-US" altLang="zh-CN"/>
              <a:t>  </a:t>
            </a:r>
            <a:r>
              <a:rPr lang="zh-CN" altLang="en-US"/>
              <a:t>才使压测结果有意义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9C2B9-325A-9B4F-9553-DD502A202BF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5D7191-1194-594D-8513-00080DD735E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2.xml"/><Relationship Id="rId5" Type="http://schemas.microsoft.com/office/2007/relationships/diagramDrawing" Target="../diagrams/drawing1.xml"/><Relationship Id="rId4" Type="http://schemas.openxmlformats.org/officeDocument/2006/relationships/diagramColors" Target="../diagrams/colors1.xml"/><Relationship Id="rId3" Type="http://schemas.openxmlformats.org/officeDocument/2006/relationships/diagramQuickStyle" Target="../diagrams/quickStyle1.xml"/><Relationship Id="rId2" Type="http://schemas.openxmlformats.org/officeDocument/2006/relationships/diagramLayout" Target="../diagrams/layout1.xml"/><Relationship Id="rId1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dirty="0"/>
              <a:t>D99</a:t>
            </a:r>
            <a:r>
              <a:rPr kumimoji="1" lang="zh-CN" altLang="en-US" dirty="0"/>
              <a:t>星性能测试回顾与</a:t>
            </a:r>
            <a:br>
              <a:rPr kumimoji="1" lang="en-US" altLang="zh-CN" dirty="0"/>
            </a:br>
            <a:r>
              <a:rPr kumimoji="1" lang="zh-CN" altLang="en-US" dirty="0"/>
              <a:t>心得分享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1"/>
            <a:ext cx="12192000" cy="685799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1000670" y="2"/>
            <a:ext cx="1191330" cy="1511301"/>
          </a:xfrm>
          <a:custGeom>
            <a:avLst/>
            <a:gdLst>
              <a:gd name="connsiteX0" fmla="*/ 697617 w 1191330"/>
              <a:gd name="connsiteY0" fmla="*/ 0 h 1511301"/>
              <a:gd name="connsiteX1" fmla="*/ 1191330 w 1191330"/>
              <a:gd name="connsiteY1" fmla="*/ 0 h 1511301"/>
              <a:gd name="connsiteX2" fmla="*/ 1191330 w 1191330"/>
              <a:gd name="connsiteY2" fmla="*/ 1511301 h 1511301"/>
              <a:gd name="connsiteX3" fmla="*/ 0 w 1191330"/>
              <a:gd name="connsiteY3" fmla="*/ 1511301 h 1511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1330" h="1511301">
                <a:moveTo>
                  <a:pt x="697617" y="0"/>
                </a:moveTo>
                <a:lnTo>
                  <a:pt x="1191330" y="0"/>
                </a:lnTo>
                <a:lnTo>
                  <a:pt x="1191330" y="1511301"/>
                </a:lnTo>
                <a:lnTo>
                  <a:pt x="0" y="151130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2" name="Freeform: Shap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1690688"/>
            <a:ext cx="10753320" cy="5167312"/>
          </a:xfrm>
          <a:custGeom>
            <a:avLst/>
            <a:gdLst>
              <a:gd name="connsiteX0" fmla="*/ 0 w 10753320"/>
              <a:gd name="connsiteY0" fmla="*/ 0 h 5167312"/>
              <a:gd name="connsiteX1" fmla="*/ 9680943 w 10753320"/>
              <a:gd name="connsiteY1" fmla="*/ 0 h 5167312"/>
              <a:gd name="connsiteX2" fmla="*/ 9680223 w 10753320"/>
              <a:gd name="connsiteY2" fmla="*/ 952 h 5167312"/>
              <a:gd name="connsiteX3" fmla="*/ 10753320 w 10753320"/>
              <a:gd name="connsiteY3" fmla="*/ 952 h 5167312"/>
              <a:gd name="connsiteX4" fmla="*/ 8359441 w 10753320"/>
              <a:gd name="connsiteY4" fmla="*/ 5167312 h 5167312"/>
              <a:gd name="connsiteX5" fmla="*/ 4821866 w 10753320"/>
              <a:gd name="connsiteY5" fmla="*/ 5167312 h 5167312"/>
              <a:gd name="connsiteX6" fmla="*/ 4821866 w 10753320"/>
              <a:gd name="connsiteY6" fmla="*/ 5166360 h 5167312"/>
              <a:gd name="connsiteX7" fmla="*/ 0 w 10753320"/>
              <a:gd name="connsiteY7" fmla="*/ 5166360 h 5167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53320" h="5167312">
                <a:moveTo>
                  <a:pt x="0" y="0"/>
                </a:moveTo>
                <a:lnTo>
                  <a:pt x="9680943" y="0"/>
                </a:lnTo>
                <a:lnTo>
                  <a:pt x="9680223" y="952"/>
                </a:lnTo>
                <a:lnTo>
                  <a:pt x="10753320" y="952"/>
                </a:lnTo>
                <a:lnTo>
                  <a:pt x="8359441" y="5167312"/>
                </a:lnTo>
                <a:lnTo>
                  <a:pt x="4821866" y="5167312"/>
                </a:lnTo>
                <a:lnTo>
                  <a:pt x="4821866" y="5166360"/>
                </a:lnTo>
                <a:lnTo>
                  <a:pt x="0" y="516636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1" y="2055811"/>
            <a:ext cx="7315200" cy="4121152"/>
          </a:xfrm>
        </p:spPr>
        <p:txBody>
          <a:bodyPr>
            <a:normAutofit/>
          </a:bodyPr>
          <a:lstStyle/>
          <a:p>
            <a:r>
              <a:rPr kumimoji="1" lang="zh-CN" altLang="en-US" sz="2200"/>
              <a:t>什么是</a:t>
            </a:r>
            <a:r>
              <a:rPr kumimoji="1" lang="en-US" altLang="zh-CN" sz="2200"/>
              <a:t>D99</a:t>
            </a:r>
            <a:r>
              <a:rPr kumimoji="1" lang="zh-CN" altLang="en-US" sz="2200"/>
              <a:t>星</a:t>
            </a:r>
            <a:r>
              <a:rPr kumimoji="1" lang="en-US" altLang="zh-CN" sz="2200"/>
              <a:t>?</a:t>
            </a:r>
            <a:endParaRPr kumimoji="1" lang="en-US" altLang="zh-CN" sz="2200"/>
          </a:p>
          <a:p>
            <a:pPr lvl="1"/>
            <a:r>
              <a:rPr kumimoji="1" lang="en-US" altLang="zh-CN" sz="2200"/>
              <a:t>D99</a:t>
            </a:r>
            <a:r>
              <a:rPr kumimoji="1" lang="zh-CN" altLang="en-US" sz="2200"/>
              <a:t>星是一款服务于灌篮高手的助手类</a:t>
            </a:r>
            <a:r>
              <a:rPr kumimoji="1" lang="en-US" altLang="zh-CN" sz="2200"/>
              <a:t>app</a:t>
            </a:r>
            <a:r>
              <a:rPr kumimoji="1" lang="zh-CN" altLang="en-US" sz="2200"/>
              <a:t>，为玩家提供游戏的战绩查询、新闻推送、社区内容聚合等服务。</a:t>
            </a:r>
            <a:endParaRPr kumimoji="1" lang="en-US" altLang="zh-CN" sz="2200"/>
          </a:p>
          <a:p>
            <a:pPr lvl="1"/>
            <a:endParaRPr kumimoji="1" lang="en-US" altLang="zh-CN" sz="2200"/>
          </a:p>
          <a:p>
            <a:r>
              <a:rPr kumimoji="1" lang="zh-CN" altLang="en-US" sz="2200"/>
              <a:t>压测准备阶段</a:t>
            </a:r>
            <a:endParaRPr kumimoji="1" lang="en-US" altLang="zh-CN" sz="2200"/>
          </a:p>
          <a:p>
            <a:pPr lvl="1"/>
            <a:r>
              <a:rPr kumimoji="1" lang="zh-CN" altLang="en-US" sz="2200"/>
              <a:t>通过会议了解了产品背景，知晓压测需求，梳理链路，获取测试时间窗口。</a:t>
            </a:r>
            <a:endParaRPr kumimoji="1" lang="en-US" altLang="zh-CN" sz="2200"/>
          </a:p>
          <a:p>
            <a:pPr lvl="1"/>
            <a:r>
              <a:rPr kumimoji="1" lang="zh-CN" altLang="en-US" sz="2200"/>
              <a:t>我们提出了关于数据准确性、对环境有无影响的几点疑问。</a:t>
            </a:r>
            <a:endParaRPr kumimoji="1" lang="en-US" altLang="zh-CN" sz="2200"/>
          </a:p>
          <a:p>
            <a:pPr lvl="1"/>
            <a:r>
              <a:rPr kumimoji="1" lang="zh-CN" altLang="en-US" sz="2200"/>
              <a:t>遗留问题：需要尽快梳理接口目录</a:t>
            </a:r>
            <a:endParaRPr kumimoji="1" lang="en-US" altLang="zh-CN" sz="2200"/>
          </a:p>
          <a:p>
            <a:endParaRPr kumimoji="1" lang="en-US" altLang="zh-CN" sz="2200"/>
          </a:p>
        </p:txBody>
      </p:sp>
      <p:sp>
        <p:nvSpPr>
          <p:cNvPr id="14" name="Freeform: Shape 13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8523986" y="1690688"/>
            <a:ext cx="3668014" cy="5167312"/>
          </a:xfrm>
          <a:custGeom>
            <a:avLst/>
            <a:gdLst>
              <a:gd name="connsiteX0" fmla="*/ 2391664 w 3668014"/>
              <a:gd name="connsiteY0" fmla="*/ 0 h 5167312"/>
              <a:gd name="connsiteX1" fmla="*/ 3668014 w 3668014"/>
              <a:gd name="connsiteY1" fmla="*/ 0 h 5167312"/>
              <a:gd name="connsiteX2" fmla="*/ 3668014 w 3668014"/>
              <a:gd name="connsiteY2" fmla="*/ 5167312 h 5167312"/>
              <a:gd name="connsiteX3" fmla="*/ 0 w 3668014"/>
              <a:gd name="connsiteY3" fmla="*/ 5167312 h 5167312"/>
              <a:gd name="connsiteX4" fmla="*/ 2393879 w 3668014"/>
              <a:gd name="connsiteY4" fmla="*/ 952 h 5167312"/>
              <a:gd name="connsiteX5" fmla="*/ 2391664 w 3668014"/>
              <a:gd name="connsiteY5" fmla="*/ 952 h 5167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68014" h="5167312">
                <a:moveTo>
                  <a:pt x="2391664" y="0"/>
                </a:moveTo>
                <a:lnTo>
                  <a:pt x="3668014" y="0"/>
                </a:lnTo>
                <a:lnTo>
                  <a:pt x="3668014" y="5167312"/>
                </a:lnTo>
                <a:lnTo>
                  <a:pt x="0" y="5167312"/>
                </a:lnTo>
                <a:lnTo>
                  <a:pt x="2393879" y="952"/>
                </a:lnTo>
                <a:lnTo>
                  <a:pt x="2391664" y="952"/>
                </a:lnTo>
                <a:close/>
              </a:path>
            </a:pathLst>
          </a:custGeom>
          <a:solidFill>
            <a:srgbClr val="A6A6A6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文本框 1"/>
          <p:cNvSpPr txBox="1"/>
          <p:nvPr/>
        </p:nvSpPr>
        <p:spPr>
          <a:xfrm>
            <a:off x="838201" y="712830"/>
            <a:ext cx="73580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solidFill>
                  <a:schemeClr val="bg1"/>
                </a:solidFill>
              </a:rPr>
              <a:t>测试背景</a:t>
            </a:r>
            <a:endParaRPr kumimoji="1" lang="zh-CN" altLang="en-US" sz="2800" dirty="0">
              <a:solidFill>
                <a:schemeClr val="bg1"/>
              </a:solidFill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25" y="0"/>
            <a:ext cx="1219047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3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flipV="1">
            <a:off x="0" y="0"/>
            <a:ext cx="6356349" cy="6858000"/>
          </a:xfrm>
          <a:custGeom>
            <a:avLst/>
            <a:gdLst>
              <a:gd name="connsiteX0" fmla="*/ 7539895 w 7539895"/>
              <a:gd name="connsiteY0" fmla="*/ 6858000 h 6858000"/>
              <a:gd name="connsiteX1" fmla="*/ 0 w 7539895"/>
              <a:gd name="connsiteY1" fmla="*/ 6858000 h 6858000"/>
              <a:gd name="connsiteX2" fmla="*/ 0 w 7539895"/>
              <a:gd name="connsiteY2" fmla="*/ 0 h 6858000"/>
              <a:gd name="connsiteX3" fmla="*/ 4363741 w 7539895"/>
              <a:gd name="connsiteY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39895" h="6858000">
                <a:moveTo>
                  <a:pt x="753989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4363741" y="0"/>
                </a:lnTo>
                <a:close/>
              </a:path>
            </a:pathLst>
          </a:cu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Freeform: Shape 25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flipV="1">
            <a:off x="0" y="0"/>
            <a:ext cx="5979591" cy="6858000"/>
          </a:xfrm>
          <a:custGeom>
            <a:avLst/>
            <a:gdLst>
              <a:gd name="connsiteX0" fmla="*/ 7092985 w 7092985"/>
              <a:gd name="connsiteY0" fmla="*/ 6858000 h 6858000"/>
              <a:gd name="connsiteX1" fmla="*/ 0 w 7092985"/>
              <a:gd name="connsiteY1" fmla="*/ 6858000 h 6858000"/>
              <a:gd name="connsiteX2" fmla="*/ 0 w 7092985"/>
              <a:gd name="connsiteY2" fmla="*/ 0 h 6858000"/>
              <a:gd name="connsiteX3" fmla="*/ 3916831 w 7092985"/>
              <a:gd name="connsiteY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92985" h="6858000">
                <a:moveTo>
                  <a:pt x="709298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916831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30" name="内容占位符 2"/>
          <p:cNvGraphicFramePr>
            <a:graphicFrameLocks noGrp="1"/>
          </p:cNvGraphicFramePr>
          <p:nvPr>
            <p:ph idx="1"/>
          </p:nvPr>
        </p:nvGraphicFramePr>
        <p:xfrm>
          <a:off x="6212410" y="704088"/>
          <a:ext cx="5135293" cy="5248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  <p:sp>
        <p:nvSpPr>
          <p:cNvPr id="19" name="文本框 18"/>
          <p:cNvSpPr txBox="1"/>
          <p:nvPr/>
        </p:nvSpPr>
        <p:spPr>
          <a:xfrm>
            <a:off x="742950" y="2505759"/>
            <a:ext cx="2957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3600" dirty="0">
                <a:solidFill>
                  <a:schemeClr val="bg1"/>
                </a:solidFill>
              </a:rPr>
              <a:t>调研结果</a:t>
            </a:r>
            <a:endParaRPr kumimoji="1" lang="zh-CN" alt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812179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kumimoji="1" lang="zh-CN" altLang="en-US" dirty="0"/>
              <a:t>业务调整</a:t>
            </a:r>
            <a:endParaRPr kumimoji="1" lang="en-US" altLang="zh-CN" dirty="0"/>
          </a:p>
          <a:p>
            <a:endParaRPr kumimoji="1" lang="en-US" altLang="zh-CN" dirty="0"/>
          </a:p>
          <a:p>
            <a:pPr lvl="1"/>
            <a:r>
              <a:rPr kumimoji="1" lang="zh-CN" altLang="en-US" dirty="0"/>
              <a:t>原有方式：</a:t>
            </a:r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r>
              <a:rPr kumimoji="1" lang="zh-CN" altLang="en-US" dirty="0"/>
              <a:t>识别风险：第三方应用直接请求游戏正服获取线上数据，对生产环境的稳定性以及数据安全性有极大隐患。</a:t>
            </a:r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r>
              <a:rPr kumimoji="1" lang="zh-CN" altLang="en-US" dirty="0"/>
              <a:t>业务改动点：</a:t>
            </a:r>
            <a:r>
              <a:rPr kumimoji="1" lang="en-US" altLang="zh-CN" dirty="0"/>
              <a:t>d99</a:t>
            </a:r>
            <a:r>
              <a:rPr kumimoji="1" lang="zh-CN" altLang="en-US" dirty="0"/>
              <a:t>需要的数据统一通过</a:t>
            </a:r>
            <a:r>
              <a:rPr kumimoji="1" lang="en-US" altLang="zh-CN" dirty="0"/>
              <a:t>DMP</a:t>
            </a:r>
            <a:r>
              <a:rPr kumimoji="1" lang="zh-CN" altLang="en-US" dirty="0"/>
              <a:t>专用接口查询获取。</a:t>
            </a:r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</p:txBody>
      </p:sp>
      <p:sp>
        <p:nvSpPr>
          <p:cNvPr id="4" name="圆角矩形 3"/>
          <p:cNvSpPr/>
          <p:nvPr/>
        </p:nvSpPr>
        <p:spPr>
          <a:xfrm>
            <a:off x="3915031" y="1359245"/>
            <a:ext cx="902043" cy="4695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game</a:t>
            </a:r>
            <a:endParaRPr kumimoji="1" lang="zh-CN" altLang="en-US" dirty="0"/>
          </a:p>
        </p:txBody>
      </p:sp>
      <p:sp>
        <p:nvSpPr>
          <p:cNvPr id="5" name="圆角矩形 4"/>
          <p:cNvSpPr/>
          <p:nvPr/>
        </p:nvSpPr>
        <p:spPr>
          <a:xfrm>
            <a:off x="3739979" y="2644347"/>
            <a:ext cx="889686" cy="49427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d99</a:t>
            </a:r>
            <a:endParaRPr kumimoji="1"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5931241" y="1359245"/>
            <a:ext cx="1025611" cy="55605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dmp</a:t>
            </a:r>
            <a:endParaRPr kumimoji="1" lang="zh-CN" altLang="en-US" dirty="0"/>
          </a:p>
        </p:txBody>
      </p:sp>
      <p:sp>
        <p:nvSpPr>
          <p:cNvPr id="7" name="圆角矩形 6"/>
          <p:cNvSpPr/>
          <p:nvPr/>
        </p:nvSpPr>
        <p:spPr>
          <a:xfrm>
            <a:off x="5931241" y="2545493"/>
            <a:ext cx="1025611" cy="59312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player</a:t>
            </a:r>
            <a:endParaRPr kumimoji="1" lang="zh-CN" altLang="en-US" dirty="0"/>
          </a:p>
        </p:txBody>
      </p:sp>
      <p:cxnSp>
        <p:nvCxnSpPr>
          <p:cNvPr id="9" name="直线箭头连接符 8"/>
          <p:cNvCxnSpPr/>
          <p:nvPr/>
        </p:nvCxnSpPr>
        <p:spPr>
          <a:xfrm flipV="1">
            <a:off x="4065372" y="1915299"/>
            <a:ext cx="119450" cy="630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线箭头连接符 9"/>
          <p:cNvCxnSpPr/>
          <p:nvPr/>
        </p:nvCxnSpPr>
        <p:spPr>
          <a:xfrm>
            <a:off x="5008087" y="1674342"/>
            <a:ext cx="85364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/>
          <p:cNvCxnSpPr/>
          <p:nvPr/>
        </p:nvCxnSpPr>
        <p:spPr>
          <a:xfrm flipH="1">
            <a:off x="4947334" y="1445742"/>
            <a:ext cx="8536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线箭头连接符 16"/>
          <p:cNvCxnSpPr/>
          <p:nvPr/>
        </p:nvCxnSpPr>
        <p:spPr>
          <a:xfrm flipH="1">
            <a:off x="4366052" y="1981287"/>
            <a:ext cx="154458" cy="5550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线箭头连接符 18"/>
          <p:cNvCxnSpPr/>
          <p:nvPr/>
        </p:nvCxnSpPr>
        <p:spPr>
          <a:xfrm>
            <a:off x="4853629" y="2834890"/>
            <a:ext cx="85364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" y="0"/>
            <a:ext cx="1764099" cy="1558212"/>
          </a:xfrm>
          <a:custGeom>
            <a:avLst/>
            <a:gdLst>
              <a:gd name="connsiteX0" fmla="*/ 0 w 1764099"/>
              <a:gd name="connsiteY0" fmla="*/ 0 h 1558212"/>
              <a:gd name="connsiteX1" fmla="*/ 1764099 w 1764099"/>
              <a:gd name="connsiteY1" fmla="*/ 0 h 1558212"/>
              <a:gd name="connsiteX2" fmla="*/ 1042087 w 1764099"/>
              <a:gd name="connsiteY2" fmla="*/ 1558212 h 1558212"/>
              <a:gd name="connsiteX3" fmla="*/ 0 w 1764099"/>
              <a:gd name="connsiteY3" fmla="*/ 1558212 h 155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64099" h="1558212">
                <a:moveTo>
                  <a:pt x="0" y="0"/>
                </a:moveTo>
                <a:lnTo>
                  <a:pt x="1764099" y="0"/>
                </a:lnTo>
                <a:lnTo>
                  <a:pt x="1042087" y="1558212"/>
                </a:lnTo>
                <a:lnTo>
                  <a:pt x="0" y="155821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" y="1691640"/>
            <a:ext cx="12191999" cy="5166360"/>
          </a:xfrm>
          <a:custGeom>
            <a:avLst/>
            <a:gdLst>
              <a:gd name="connsiteX0" fmla="*/ 0 w 12191999"/>
              <a:gd name="connsiteY0" fmla="*/ 0 h 5166360"/>
              <a:gd name="connsiteX1" fmla="*/ 1822388 w 12191999"/>
              <a:gd name="connsiteY1" fmla="*/ 0 h 5166360"/>
              <a:gd name="connsiteX2" fmla="*/ 6468290 w 12191999"/>
              <a:gd name="connsiteY2" fmla="*/ 0 h 5166360"/>
              <a:gd name="connsiteX3" fmla="*/ 7796394 w 12191999"/>
              <a:gd name="connsiteY3" fmla="*/ 0 h 5166360"/>
              <a:gd name="connsiteX4" fmla="*/ 8376834 w 12191999"/>
              <a:gd name="connsiteY4" fmla="*/ 0 h 5166360"/>
              <a:gd name="connsiteX5" fmla="*/ 9704938 w 12191999"/>
              <a:gd name="connsiteY5" fmla="*/ 0 h 5166360"/>
              <a:gd name="connsiteX6" fmla="*/ 9704938 w 12191999"/>
              <a:gd name="connsiteY6" fmla="*/ 2 h 5166360"/>
              <a:gd name="connsiteX7" fmla="*/ 10283456 w 12191999"/>
              <a:gd name="connsiteY7" fmla="*/ 2 h 5166360"/>
              <a:gd name="connsiteX8" fmla="*/ 10863897 w 12191999"/>
              <a:gd name="connsiteY8" fmla="*/ 2 h 5166360"/>
              <a:gd name="connsiteX9" fmla="*/ 12191999 w 12191999"/>
              <a:gd name="connsiteY9" fmla="*/ 2 h 5166360"/>
              <a:gd name="connsiteX10" fmla="*/ 12191999 w 12191999"/>
              <a:gd name="connsiteY10" fmla="*/ 5166360 h 5166360"/>
              <a:gd name="connsiteX11" fmla="*/ 0 w 12191999"/>
              <a:gd name="connsiteY11" fmla="*/ 5166360 h 5166360"/>
              <a:gd name="connsiteX12" fmla="*/ 0 w 12191999"/>
              <a:gd name="connsiteY12" fmla="*/ 2604436 h 5166360"/>
              <a:gd name="connsiteX13" fmla="*/ 862341 w 12191999"/>
              <a:gd name="connsiteY13" fmla="*/ 743371 h 5166360"/>
              <a:gd name="connsiteX14" fmla="*/ 0 w 12191999"/>
              <a:gd name="connsiteY14" fmla="*/ 743371 h 5166360"/>
              <a:gd name="connsiteX15" fmla="*/ 0 w 12191999"/>
              <a:gd name="connsiteY15" fmla="*/ 742508 h 5166360"/>
              <a:gd name="connsiteX16" fmla="*/ 92826 w 12191999"/>
              <a:gd name="connsiteY16" fmla="*/ 742508 h 5166360"/>
              <a:gd name="connsiteX17" fmla="*/ 406486 w 12191999"/>
              <a:gd name="connsiteY17" fmla="*/ 742508 h 5166360"/>
              <a:gd name="connsiteX18" fmla="*/ 406486 w 12191999"/>
              <a:gd name="connsiteY18" fmla="*/ 742507 h 5166360"/>
              <a:gd name="connsiteX19" fmla="*/ 862741 w 12191999"/>
              <a:gd name="connsiteY19" fmla="*/ 742507 h 5166360"/>
              <a:gd name="connsiteX20" fmla="*/ 1206388 w 12191999"/>
              <a:gd name="connsiteY20" fmla="*/ 864 h 5166360"/>
              <a:gd name="connsiteX21" fmla="*/ 748500 w 12191999"/>
              <a:gd name="connsiteY21" fmla="*/ 864 h 5166360"/>
              <a:gd name="connsiteX22" fmla="*/ 0 w 12191999"/>
              <a:gd name="connsiteY22" fmla="*/ 864 h 516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2191999" h="5166360">
                <a:moveTo>
                  <a:pt x="0" y="0"/>
                </a:moveTo>
                <a:lnTo>
                  <a:pt x="1822388" y="0"/>
                </a:lnTo>
                <a:lnTo>
                  <a:pt x="6468290" y="0"/>
                </a:lnTo>
                <a:lnTo>
                  <a:pt x="7796394" y="0"/>
                </a:lnTo>
                <a:lnTo>
                  <a:pt x="8376834" y="0"/>
                </a:lnTo>
                <a:lnTo>
                  <a:pt x="9704938" y="0"/>
                </a:lnTo>
                <a:lnTo>
                  <a:pt x="9704938" y="2"/>
                </a:lnTo>
                <a:lnTo>
                  <a:pt x="10283456" y="2"/>
                </a:lnTo>
                <a:lnTo>
                  <a:pt x="10863897" y="2"/>
                </a:lnTo>
                <a:lnTo>
                  <a:pt x="12191999" y="2"/>
                </a:lnTo>
                <a:lnTo>
                  <a:pt x="12191999" y="5166360"/>
                </a:lnTo>
                <a:lnTo>
                  <a:pt x="0" y="5166360"/>
                </a:lnTo>
                <a:lnTo>
                  <a:pt x="0" y="2604436"/>
                </a:lnTo>
                <a:lnTo>
                  <a:pt x="862341" y="743371"/>
                </a:lnTo>
                <a:lnTo>
                  <a:pt x="0" y="743371"/>
                </a:lnTo>
                <a:lnTo>
                  <a:pt x="0" y="742508"/>
                </a:lnTo>
                <a:lnTo>
                  <a:pt x="92826" y="742508"/>
                </a:lnTo>
                <a:lnTo>
                  <a:pt x="406486" y="742508"/>
                </a:lnTo>
                <a:lnTo>
                  <a:pt x="406486" y="742507"/>
                </a:lnTo>
                <a:lnTo>
                  <a:pt x="862741" y="742507"/>
                </a:lnTo>
                <a:lnTo>
                  <a:pt x="1206388" y="864"/>
                </a:lnTo>
                <a:lnTo>
                  <a:pt x="748500" y="864"/>
                </a:lnTo>
                <a:lnTo>
                  <a:pt x="0" y="864"/>
                </a:lnTo>
                <a:close/>
              </a:path>
            </a:pathLst>
          </a:custGeom>
          <a:solidFill>
            <a:srgbClr val="A6A6A6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1691641"/>
            <a:ext cx="971654" cy="2096979"/>
          </a:xfrm>
          <a:custGeom>
            <a:avLst/>
            <a:gdLst>
              <a:gd name="connsiteX0" fmla="*/ 0 w 971654"/>
              <a:gd name="connsiteY0" fmla="*/ 0 h 2096979"/>
              <a:gd name="connsiteX1" fmla="*/ 971654 w 971654"/>
              <a:gd name="connsiteY1" fmla="*/ 0 h 2096979"/>
              <a:gd name="connsiteX2" fmla="*/ 0 w 971654"/>
              <a:gd name="connsiteY2" fmla="*/ 2096979 h 2096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1654" h="2096979">
                <a:moveTo>
                  <a:pt x="0" y="0"/>
                </a:moveTo>
                <a:lnTo>
                  <a:pt x="971654" y="0"/>
                </a:lnTo>
                <a:lnTo>
                  <a:pt x="0" y="20969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653363" y="2176272"/>
            <a:ext cx="9367204" cy="4041648"/>
          </a:xfrm>
        </p:spPr>
        <p:txBody>
          <a:bodyPr anchor="t">
            <a:normAutofit lnSpcReduction="20000"/>
          </a:bodyPr>
          <a:lstStyle/>
          <a:p>
            <a:r>
              <a:rPr kumimoji="1" lang="zh-CN" altLang="en-US" sz="2400" dirty="0"/>
              <a:t>正式提测：</a:t>
            </a:r>
            <a:endParaRPr kumimoji="1" lang="en-US" altLang="zh-CN" sz="2400" dirty="0"/>
          </a:p>
          <a:p>
            <a:endParaRPr kumimoji="1" lang="en-US" altLang="zh-CN" sz="2400" dirty="0"/>
          </a:p>
          <a:p>
            <a:pPr lvl="1"/>
            <a:r>
              <a:rPr kumimoji="1" lang="zh-CN" altLang="en-US" dirty="0"/>
              <a:t>梳理</a:t>
            </a:r>
            <a:r>
              <a:rPr kumimoji="1" lang="en-US" altLang="zh-CN" dirty="0"/>
              <a:t>API</a:t>
            </a:r>
            <a:r>
              <a:rPr kumimoji="1" lang="zh-CN" altLang="en-US" dirty="0"/>
              <a:t>调用逻辑：文档描述</a:t>
            </a:r>
            <a:r>
              <a:rPr kumimoji="1" lang="en-US" altLang="zh-CN" dirty="0"/>
              <a:t>+app</a:t>
            </a:r>
            <a:r>
              <a:rPr kumimoji="1" lang="zh-CN" altLang="en-US" dirty="0"/>
              <a:t>黑盒对照</a:t>
            </a:r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r>
              <a:rPr kumimoji="1" lang="zh-CN" altLang="en-US" dirty="0"/>
              <a:t>圈画压测接口范围：用户操作路径短、使用频繁、产生高并发请求几率高的接口</a:t>
            </a:r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r>
              <a:rPr kumimoji="1" lang="zh-CN" altLang="en-US" dirty="0"/>
              <a:t>制定压测目标：单接口</a:t>
            </a:r>
            <a:r>
              <a:rPr kumimoji="1" lang="en-US" altLang="zh-CN" dirty="0"/>
              <a:t>QPS</a:t>
            </a:r>
            <a:r>
              <a:rPr kumimoji="1" lang="zh-CN" altLang="en-US" dirty="0"/>
              <a:t>：</a:t>
            </a:r>
            <a:r>
              <a:rPr kumimoji="1" lang="en-US" altLang="zh-CN" dirty="0"/>
              <a:t>50</a:t>
            </a:r>
            <a:r>
              <a:rPr kumimoji="1" lang="zh-CN" altLang="en-US" dirty="0"/>
              <a:t>（上线后将限量邀请方式开放使用）</a:t>
            </a:r>
            <a:endParaRPr kumimoji="1" lang="zh-CN" altLang="en-US" dirty="0"/>
          </a:p>
          <a:p>
            <a:pPr lvl="1"/>
            <a:endParaRPr kumimoji="1" lang="zh-CN" altLang="en-US" dirty="0"/>
          </a:p>
          <a:p>
            <a:pPr lvl="1"/>
            <a:r>
              <a:rPr kumimoji="1" lang="zh-CN" altLang="en-US" dirty="0"/>
              <a:t>搭建可视化监控服务，设计并评审测试脚本，协同运维人员搭建压测环境。</a:t>
            </a:r>
            <a:endParaRPr kumimoji="1" lang="en-US" altLang="zh-CN" dirty="0"/>
          </a:p>
          <a:p>
            <a:endParaRPr kumimoji="1" lang="en-US" altLang="zh-CN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内容占位符 4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858899" y="1277577"/>
            <a:ext cx="3862838" cy="1852181"/>
          </a:xfrm>
          <a:custGeom>
            <a:avLst/>
            <a:gdLst/>
            <a:ahLst/>
            <a:cxnLst/>
            <a:rect l="l" t="t" r="r" b="b"/>
            <a:pathLst>
              <a:path w="4926150" h="2331720">
                <a:moveTo>
                  <a:pt x="0" y="0"/>
                </a:moveTo>
                <a:lnTo>
                  <a:pt x="4926150" y="0"/>
                </a:lnTo>
                <a:lnTo>
                  <a:pt x="4926150" y="2331720"/>
                </a:lnTo>
                <a:lnTo>
                  <a:pt x="0" y="2331720"/>
                </a:lnTo>
                <a:close/>
              </a:path>
            </a:pathLst>
          </a:cu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799" y="3719172"/>
            <a:ext cx="4812938" cy="2093628"/>
          </a:xfrm>
          <a:custGeom>
            <a:avLst/>
            <a:gdLst/>
            <a:ahLst/>
            <a:cxnLst/>
            <a:rect l="l" t="t" r="r" b="b"/>
            <a:pathLst>
              <a:path w="3976051" h="2331947">
                <a:moveTo>
                  <a:pt x="0" y="0"/>
                </a:moveTo>
                <a:lnTo>
                  <a:pt x="3976051" y="0"/>
                </a:lnTo>
                <a:lnTo>
                  <a:pt x="3976051" y="2331947"/>
                </a:lnTo>
                <a:lnTo>
                  <a:pt x="0" y="2331947"/>
                </a:lnTo>
                <a:close/>
              </a:path>
            </a:pathLst>
          </a:custGeom>
        </p:spPr>
      </p:pic>
      <p:sp>
        <p:nvSpPr>
          <p:cNvPr id="30" name="Freeform: Shape 2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" y="523805"/>
            <a:ext cx="7800441" cy="5696020"/>
          </a:xfrm>
          <a:custGeom>
            <a:avLst/>
            <a:gdLst>
              <a:gd name="connsiteX0" fmla="*/ 0 w 7800441"/>
              <a:gd name="connsiteY0" fmla="*/ 0 h 5696020"/>
              <a:gd name="connsiteX1" fmla="*/ 7800441 w 7800441"/>
              <a:gd name="connsiteY1" fmla="*/ 0 h 5696020"/>
              <a:gd name="connsiteX2" fmla="*/ 5037161 w 7800441"/>
              <a:gd name="connsiteY2" fmla="*/ 5696020 h 5696020"/>
              <a:gd name="connsiteX3" fmla="*/ 0 w 7800441"/>
              <a:gd name="connsiteY3" fmla="*/ 5696020 h 569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00441" h="5696020">
                <a:moveTo>
                  <a:pt x="0" y="0"/>
                </a:moveTo>
                <a:lnTo>
                  <a:pt x="7800441" y="0"/>
                </a:lnTo>
                <a:lnTo>
                  <a:pt x="5037161" y="5696020"/>
                </a:lnTo>
                <a:lnTo>
                  <a:pt x="0" y="5696020"/>
                </a:lnTo>
                <a:close/>
              </a:path>
            </a:pathLst>
          </a:cu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914400"/>
            <a:ext cx="5111496" cy="10972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z="4400">
                <a:solidFill>
                  <a:schemeClr val="bg1"/>
                </a:solidFill>
              </a:rPr>
              <a:t>首轮压测结果</a:t>
            </a:r>
            <a:endParaRPr kumimoji="1" lang="zh-CN" altLang="en-US" sz="4400">
              <a:solidFill>
                <a:schemeClr val="bg1"/>
              </a:solidFill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8200" y="2331720"/>
            <a:ext cx="4379976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zh-CN" altLang="en-US" sz="1900">
                <a:solidFill>
                  <a:schemeClr val="bg1"/>
                </a:solidFill>
              </a:rPr>
              <a:t>接口响应时间普遍较长</a:t>
            </a:r>
            <a:endParaRPr kumimoji="1" lang="en-US" altLang="zh-CN" sz="1900">
              <a:solidFill>
                <a:schemeClr val="bg1"/>
              </a:solidFill>
            </a:endParaRPr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>
              <a:solidFill>
                <a:schemeClr val="bg1"/>
              </a:solidFill>
            </a:endParaRP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zh-CN" altLang="en-US" sz="1900">
                <a:solidFill>
                  <a:schemeClr val="bg1"/>
                </a:solidFill>
              </a:rPr>
              <a:t>部分接口功能不完善，有报错</a:t>
            </a:r>
            <a:endParaRPr kumimoji="1" lang="en-US" altLang="zh-CN" sz="1900">
              <a:solidFill>
                <a:schemeClr val="bg1"/>
              </a:solidFill>
            </a:endParaRPr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>
              <a:solidFill>
                <a:schemeClr val="bg1"/>
              </a:solidFill>
            </a:endParaRP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en-US" altLang="zh-CN" sz="1900">
                <a:solidFill>
                  <a:schemeClr val="bg1"/>
                </a:solidFill>
              </a:rPr>
              <a:t>Sql</a:t>
            </a:r>
            <a:r>
              <a:rPr kumimoji="1" lang="zh-CN" altLang="en-US" sz="1900">
                <a:solidFill>
                  <a:schemeClr val="bg1"/>
                </a:solidFill>
              </a:rPr>
              <a:t>逻辑部分优化空间大，有些接口对</a:t>
            </a:r>
            <a:r>
              <a:rPr kumimoji="1" lang="en-US" altLang="zh-CN" sz="1900">
                <a:solidFill>
                  <a:schemeClr val="bg1"/>
                </a:solidFill>
              </a:rPr>
              <a:t>DB</a:t>
            </a:r>
            <a:r>
              <a:rPr kumimoji="1" lang="zh-CN" altLang="en-US" sz="1900">
                <a:solidFill>
                  <a:schemeClr val="bg1"/>
                </a:solidFill>
              </a:rPr>
              <a:t>造成巨大压力</a:t>
            </a:r>
            <a:endParaRPr kumimoji="1" lang="en-US" altLang="zh-CN" sz="1900">
              <a:solidFill>
                <a:schemeClr val="bg1"/>
              </a:solidFill>
            </a:endParaRPr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>
              <a:solidFill>
                <a:schemeClr val="bg1"/>
              </a:solidFill>
            </a:endParaRP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zh-CN" altLang="en-US" sz="1900">
                <a:solidFill>
                  <a:schemeClr val="bg1"/>
                </a:solidFill>
              </a:rPr>
              <a:t>将有性能问题的接口汇总给研发进行优化，等待优化后再次测试，本轮结束</a:t>
            </a:r>
            <a:endParaRPr kumimoji="1" lang="en-US" altLang="zh-CN" sz="1900">
              <a:solidFill>
                <a:schemeClr val="bg1"/>
              </a:solidFill>
            </a:endParaRPr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53490"/>
            <a:ext cx="10515600" cy="4351338"/>
          </a:xfrm>
        </p:spPr>
        <p:txBody>
          <a:bodyPr/>
          <a:p>
            <a:r>
              <a:rPr lang="zh-CN"/>
              <a:t>变化：</a:t>
            </a:r>
            <a:endParaRPr lang="zh-CN"/>
          </a:p>
          <a:p>
            <a:pPr lvl="1"/>
            <a:r>
              <a:rPr lang="zh-CN"/>
              <a:t>不再使用原有</a:t>
            </a:r>
            <a:r>
              <a:rPr lang="en-US" altLang="zh-CN"/>
              <a:t>D99 app</a:t>
            </a:r>
            <a:endParaRPr lang="zh-CN" altLang="en-US"/>
          </a:p>
          <a:p>
            <a:pPr lvl="1"/>
            <a:r>
              <a:rPr lang="en-US" altLang="zh-CN"/>
              <a:t>DMP</a:t>
            </a:r>
            <a:r>
              <a:rPr lang="zh-CN" altLang="en-US"/>
              <a:t>新研发接口保持不变，并为其增加缓存策略（编码由产品中心阿正负责）</a:t>
            </a:r>
            <a:endParaRPr lang="zh-CN" altLang="en-US"/>
          </a:p>
          <a:p>
            <a:pPr marL="457200" lvl="1" indent="0">
              <a:buNone/>
            </a:pPr>
            <a:endParaRPr lang="en-US" altLang="zh-CN"/>
          </a:p>
          <a:p>
            <a:pPr lvl="0"/>
            <a:r>
              <a:rPr lang="zh-CN" altLang="en-US"/>
              <a:t>再次提测目的：</a:t>
            </a:r>
            <a:endParaRPr lang="zh-CN" altLang="en-US"/>
          </a:p>
          <a:p>
            <a:pPr lvl="1"/>
            <a:r>
              <a:rPr lang="en-US" altLang="zh-CN"/>
              <a:t>DMP</a:t>
            </a:r>
            <a:r>
              <a:rPr lang="zh-CN" altLang="en-US"/>
              <a:t>接口优化后表现。</a:t>
            </a:r>
            <a:endParaRPr lang="zh-CN" altLang="en-US"/>
          </a:p>
          <a:p>
            <a:pPr lvl="1"/>
            <a:r>
              <a:rPr lang="zh-CN" altLang="en-US"/>
              <a:t>缓存策略效果。</a:t>
            </a:r>
            <a:endParaRPr lang="zh-CN" altLang="en-US"/>
          </a:p>
          <a:p>
            <a:pPr lvl="1"/>
            <a:r>
              <a:rPr lang="zh-CN" altLang="en-US"/>
              <a:t>对比两种方案。</a:t>
            </a:r>
            <a:endParaRPr lang="zh-CN" altLang="en-US"/>
          </a:p>
          <a:p>
            <a:pPr lvl="1"/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测试准备工作调整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流程：</a:t>
            </a:r>
            <a:endParaRPr lang="zh-CN" altLang="en-US"/>
          </a:p>
          <a:p>
            <a:pPr lvl="1"/>
            <a:r>
              <a:rPr lang="zh-CN" altLang="en-US"/>
              <a:t>简化原有测试流程，将性能测试工作前置之于功能测试</a:t>
            </a:r>
            <a:endParaRPr lang="zh-CN" altLang="en-US"/>
          </a:p>
          <a:p>
            <a:pPr lvl="1"/>
            <a:endParaRPr lang="zh-CN" altLang="en-US"/>
          </a:p>
          <a:p>
            <a:pPr lvl="0"/>
            <a:r>
              <a:rPr lang="zh-CN" altLang="en-US"/>
              <a:t>压测目标：</a:t>
            </a:r>
            <a:endParaRPr lang="zh-CN" altLang="en-US"/>
          </a:p>
          <a:p>
            <a:pPr lvl="1"/>
            <a:r>
              <a:rPr lang="zh-CN" altLang="en-US"/>
              <a:t>目标</a:t>
            </a:r>
            <a:r>
              <a:rPr lang="en-US" altLang="zh-CN"/>
              <a:t>qps</a:t>
            </a:r>
            <a:r>
              <a:rPr lang="zh-CN" altLang="en-US"/>
              <a:t>为</a:t>
            </a:r>
            <a:r>
              <a:rPr lang="en-US" altLang="zh-CN"/>
              <a:t>190</a:t>
            </a:r>
            <a:r>
              <a:rPr lang="zh-CN" altLang="en-US"/>
              <a:t>，同时：</a:t>
            </a:r>
            <a:endParaRPr lang="zh-CN" altLang="en-US"/>
          </a:p>
          <a:p>
            <a:pPr lvl="2"/>
            <a:r>
              <a:rPr lang="zh-CN" altLang="en-US"/>
              <a:t>接口平均延迟</a:t>
            </a:r>
            <a:r>
              <a:rPr lang="en-US" altLang="zh-CN"/>
              <a:t>400ms</a:t>
            </a:r>
            <a:r>
              <a:rPr lang="zh-CN" altLang="en-US"/>
              <a:t>以下</a:t>
            </a:r>
            <a:endParaRPr lang="zh-CN" altLang="en-US"/>
          </a:p>
          <a:p>
            <a:pPr lvl="2"/>
            <a:r>
              <a:rPr lang="zh-CN" altLang="en-US"/>
              <a:t>并发请求接口无报错</a:t>
            </a:r>
            <a:endParaRPr lang="zh-CN" altLang="en-US"/>
          </a:p>
          <a:p>
            <a:pPr lvl="2"/>
            <a:r>
              <a:rPr lang="zh-CN" altLang="en-US"/>
              <a:t>应用缓存策略后性能表现</a:t>
            </a:r>
            <a:endParaRPr lang="zh-CN" altLang="en-US"/>
          </a:p>
          <a:p>
            <a:pPr lvl="1"/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压测结果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压测报告截图</a:t>
            </a:r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性能测试结论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在当前</a:t>
            </a:r>
            <a:r>
              <a:rPr lang="en-US" altLang="zh-CN"/>
              <a:t>qps</a:t>
            </a:r>
            <a:r>
              <a:rPr lang="zh-CN" altLang="en-US"/>
              <a:t>限制配置下，被压服务无明显功能问题。</a:t>
            </a:r>
            <a:endParaRPr lang="zh-CN" altLang="en-US"/>
          </a:p>
          <a:p>
            <a:r>
              <a:rPr lang="zh-CN" altLang="en-US"/>
              <a:t>新增的缓存策略对原有接口性能有所提升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盲点：</a:t>
            </a:r>
            <a:endParaRPr lang="zh-CN" altLang="en-US"/>
          </a:p>
          <a:p>
            <a:pPr lvl="1"/>
            <a:r>
              <a:rPr lang="zh-CN" altLang="en-US"/>
              <a:t>压测期间，服务的</a:t>
            </a:r>
            <a:r>
              <a:rPr lang="en-US" altLang="zh-CN"/>
              <a:t>cpu</a:t>
            </a:r>
            <a:r>
              <a:rPr lang="zh-CN" altLang="en-US"/>
              <a:t>使用率保持在</a:t>
            </a:r>
            <a:r>
              <a:rPr lang="en-US" altLang="zh-CN">
                <a:solidFill>
                  <a:srgbClr val="FF0000"/>
                </a:solidFill>
              </a:rPr>
              <a:t>30%</a:t>
            </a:r>
            <a:r>
              <a:rPr lang="zh-CN" altLang="en-US"/>
              <a:t>，上浮后的表现未知。</a:t>
            </a:r>
            <a:endParaRPr lang="zh-CN" altLang="en-US"/>
          </a:p>
          <a:p>
            <a:pPr lvl="1"/>
            <a:endParaRPr lang="zh-CN" altLang="en-US"/>
          </a:p>
          <a:p>
            <a:pPr lvl="0"/>
            <a:r>
              <a:rPr lang="en-US" altLang="zh-CN"/>
              <a:t>To do</a:t>
            </a:r>
            <a:r>
              <a:rPr lang="zh-CN" altLang="en-US"/>
              <a:t>：</a:t>
            </a:r>
            <a:endParaRPr lang="zh-CN" altLang="en-US"/>
          </a:p>
          <a:p>
            <a:pPr lvl="1"/>
            <a:r>
              <a:rPr lang="zh-CN" altLang="en-US"/>
              <a:t>开放上限后，找出性能极限，评估性能表现。</a:t>
            </a:r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这些技能提升了！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en-US" altLang="zh-CN"/>
              <a:t> </a:t>
            </a:r>
            <a:r>
              <a:rPr lang="zh-CN" altLang="en-US"/>
              <a:t>独立负责一个相对比较完整的项目的压测</a:t>
            </a:r>
            <a:endParaRPr lang="zh-CN" altLang="en-US"/>
          </a:p>
          <a:p>
            <a:pPr lvl="1"/>
            <a:r>
              <a:rPr lang="zh-CN" altLang="en-US"/>
              <a:t>信心增长了</a:t>
            </a:r>
            <a:endParaRPr lang="zh-CN" altLang="en-US"/>
          </a:p>
          <a:p>
            <a:pPr lvl="1"/>
            <a:r>
              <a:rPr lang="zh-CN" altLang="en-US"/>
              <a:t>说话硬气了</a:t>
            </a:r>
            <a:endParaRPr lang="zh-CN" altLang="en-US"/>
          </a:p>
          <a:p>
            <a:pPr lvl="1"/>
            <a:endParaRPr lang="zh-CN" altLang="en-US"/>
          </a:p>
          <a:p>
            <a:pPr lvl="0"/>
            <a:r>
              <a:rPr lang="zh-CN" altLang="en-US"/>
              <a:t>关注重心明确了</a:t>
            </a:r>
            <a:endParaRPr lang="zh-CN" altLang="en-US"/>
          </a:p>
          <a:p>
            <a:pPr lvl="1"/>
            <a:r>
              <a:rPr lang="zh-CN" altLang="en-US"/>
              <a:t>前期：需求背景，业务链路，测试范围，影响范围，数据来源，测试目标</a:t>
            </a:r>
            <a:endParaRPr lang="zh-CN" altLang="en-US"/>
          </a:p>
          <a:p>
            <a:pPr lvl="2"/>
            <a:r>
              <a:rPr lang="zh-CN" altLang="en-US"/>
              <a:t>对</a:t>
            </a:r>
            <a:r>
              <a:rPr lang="en-US" altLang="zh-CN"/>
              <a:t>“</a:t>
            </a:r>
            <a:r>
              <a:rPr lang="zh-CN" altLang="en-US"/>
              <a:t>将</a:t>
            </a:r>
            <a:r>
              <a:rPr lang="en-US" altLang="zh-CN"/>
              <a:t>80%</a:t>
            </a:r>
            <a:r>
              <a:rPr lang="zh-CN" altLang="en-US"/>
              <a:t>的注意力放在压测前的调研和目标制定上所带来的效果提升</a:t>
            </a:r>
            <a:r>
              <a:rPr lang="en-US" altLang="zh-CN"/>
              <a:t>”</a:t>
            </a:r>
            <a:r>
              <a:rPr lang="zh-CN" altLang="en-US"/>
              <a:t>有了更直观的感受</a:t>
            </a:r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52855"/>
            <a:ext cx="10515600" cy="4351338"/>
          </a:xfrm>
        </p:spPr>
        <p:txBody>
          <a:bodyPr/>
          <a:p>
            <a:pPr lvl="1"/>
            <a:r>
              <a:rPr lang="zh-CN" altLang="en-US" sz="2800">
                <a:sym typeface="+mn-ea"/>
              </a:rPr>
              <a:t>中期：独立部署测试集群和可视化监控，设计评审测试脚本，协同</a:t>
            </a:r>
            <a:r>
              <a:rPr lang="en-US" altLang="zh-CN" sz="2800">
                <a:sym typeface="+mn-ea"/>
              </a:rPr>
              <a:t>infra</a:t>
            </a:r>
            <a:r>
              <a:rPr lang="zh-CN" altLang="en-US" sz="2800">
                <a:sym typeface="+mn-ea"/>
              </a:rPr>
              <a:t>准备测试环境，根据链路分析性能瓶颈，及时准确反馈问题范围</a:t>
            </a:r>
            <a:endParaRPr lang="zh-CN" altLang="en-US" sz="2800">
              <a:sym typeface="+mn-ea"/>
            </a:endParaRPr>
          </a:p>
          <a:p>
            <a:pPr lvl="1"/>
            <a:endParaRPr lang="zh-CN" altLang="en-US" sz="2800"/>
          </a:p>
          <a:p>
            <a:pPr lvl="1"/>
            <a:r>
              <a:rPr lang="zh-CN" altLang="en-US" sz="2795"/>
              <a:t>部署环境和脚本调试以往压测耗费时间最长的环节</a:t>
            </a:r>
            <a:endParaRPr lang="zh-CN" altLang="en-US" sz="2795"/>
          </a:p>
          <a:p>
            <a:pPr lvl="2"/>
            <a:endParaRPr lang="zh-CN" altLang="en-US" sz="2330"/>
          </a:p>
          <a:p>
            <a:pPr lvl="1"/>
            <a:r>
              <a:rPr lang="zh-CN" altLang="en-US"/>
              <a:t>不要过于拘泥于工具上的细节而忽略更重要的问题</a:t>
            </a:r>
            <a:endParaRPr lang="zh-CN" altLang="en-US"/>
          </a:p>
          <a:p>
            <a:pPr lvl="2"/>
            <a:endParaRPr lang="zh-CN" altLang="en-US"/>
          </a:p>
          <a:p>
            <a:pPr lvl="1"/>
            <a:r>
              <a:rPr lang="zh-CN" altLang="en-US"/>
              <a:t>部署和操作基于前期分析链路而制定的目标，不应成为性能测试耗时源头</a:t>
            </a:r>
            <a:endParaRPr lang="zh-CN" altLang="en-US"/>
          </a:p>
          <a:p>
            <a:pPr lvl="2"/>
            <a:endParaRPr lang="zh-CN" altLang="en-US"/>
          </a:p>
          <a:p>
            <a:pPr lvl="2"/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53490"/>
            <a:ext cx="10515600" cy="4351338"/>
          </a:xfrm>
        </p:spPr>
        <p:txBody>
          <a:bodyPr/>
          <a:p>
            <a:pPr marL="0" lvl="1"/>
            <a:r>
              <a:rPr lang="zh-CN" altLang="en-US" sz="2800">
                <a:sym typeface="+mn-ea"/>
              </a:rPr>
              <a:t>后期：撰写测试报告，评估风险，提出改进意见，组织复盘</a:t>
            </a:r>
            <a:endParaRPr lang="zh-CN" altLang="en-US" sz="2800">
              <a:sym typeface="+mn-ea"/>
            </a:endParaRPr>
          </a:p>
          <a:p>
            <a:pPr marL="0" lvl="1"/>
            <a:endParaRPr lang="zh-CN" altLang="en-US" sz="2800">
              <a:sym typeface="+mn-ea"/>
            </a:endParaRPr>
          </a:p>
          <a:p>
            <a:pPr marL="0" lvl="1"/>
            <a:r>
              <a:rPr lang="zh-CN" altLang="en-US" sz="2795"/>
              <a:t>除了产出报告，还需总结在前期制定策略的方法</a:t>
            </a:r>
            <a:endParaRPr lang="zh-CN" altLang="en-US" sz="2795"/>
          </a:p>
          <a:p>
            <a:pPr marL="914400" lvl="3"/>
            <a:r>
              <a:rPr lang="zh-CN" altLang="en-US"/>
              <a:t>例如这次测试前期调研过程中，按照用户使用的最短路径来确立压测范围的思路</a:t>
            </a:r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1102</Words>
  <Application>WPS 演示</Application>
  <PresentationFormat>宽屏</PresentationFormat>
  <Paragraphs>126</Paragraphs>
  <Slides>13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2" baseType="lpstr">
      <vt:lpstr>Arial</vt:lpstr>
      <vt:lpstr>宋体</vt:lpstr>
      <vt:lpstr>Wingdings</vt:lpstr>
      <vt:lpstr>等线 Light</vt:lpstr>
      <vt:lpstr>微软雅黑</vt:lpstr>
      <vt:lpstr>Arial Unicode MS</vt:lpstr>
      <vt:lpstr>等线</vt:lpstr>
      <vt:lpstr>Wingdings</vt:lpstr>
      <vt:lpstr>Office 主题​​</vt:lpstr>
      <vt:lpstr>D99星性能测试回顾与 心得分享</vt:lpstr>
      <vt:lpstr>PowerPoint 演示文稿</vt:lpstr>
      <vt:lpstr>PowerPoint 演示文稿</vt:lpstr>
      <vt:lpstr>PowerPoint 演示文稿</vt:lpstr>
      <vt:lpstr>PowerPoint 演示文稿</vt:lpstr>
      <vt:lpstr>首轮压测结果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D99星性能测试回顾与 经验分享</dc:title>
  <dc:creator>Renfei Wang</dc:creator>
  <cp:lastModifiedBy>这次我换了一个脱俗而稳健的名字</cp:lastModifiedBy>
  <cp:revision>76</cp:revision>
  <dcterms:created xsi:type="dcterms:W3CDTF">2021-08-09T10:00:00Z</dcterms:created>
  <dcterms:modified xsi:type="dcterms:W3CDTF">2021-08-15T08:46:06Z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5C805FF13D864E2A85BB91FF3E624317</vt:lpwstr>
  </property>
  <property fmtid="{D5CDD505-2E9C-101B-9397-08002B2CF9AE}" pid="3" name="KSOProductBuildVer">
    <vt:lpwstr>2052-11.1.0.10700</vt:lpwstr>
  </property>
</Properties>
</file>